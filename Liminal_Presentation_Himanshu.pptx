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593"/>
  </p:normalViewPr>
  <p:slideViewPr>
    <p:cSldViewPr snapToGrid="0" snapToObjects="1">
      <p:cViewPr varScale="1">
        <p:scale>
          <a:sx n="147" d="100"/>
          <a:sy n="147" d="100"/>
        </p:scale>
        <p:origin x="6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6040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a:solidFill>
                  <a:schemeClr val="tx1"/>
                </a:solidFill>
                <a:effectLst/>
                <a:latin typeface="+mn-lt"/>
                <a:ea typeface="+mn-ea"/>
                <a:cs typeface="+mn-cs"/>
              </a:rPr>
              <a:t>The idea is simple. A founder gives you a messy brief. This tool turns it into something an engineer can actually work from — entities, APIs, tasks — and puts it where your team already works. I built this in about 4 days. Let me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a:solidFill>
                  <a:schemeClr val="tx1"/>
                </a:solidFill>
                <a:effectLst/>
                <a:latin typeface="+mn-lt"/>
                <a:ea typeface="+mn-ea"/>
                <a:cs typeface="+mn-cs"/>
              </a:rPr>
              <a:t>I can build things. I have shipped production RAG pipelines at Hyundai, run UAT at EY, and built a Telegram bot with 1,500 active users. The gap is not the code. The gap is the step before the code — taking a 200-word founder brief and turning it into something engineerable. That step takes pattern recognition I have not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a:solidFill>
                  <a:schemeClr val="tx1"/>
                </a:solidFill>
                <a:effectLst/>
                <a:latin typeface="+mn-lt"/>
                <a:ea typeface="+mn-ea"/>
                <a:cs typeface="+mn-cs"/>
              </a:rPr>
              <a:t>I tried one big prompt first. The API endpoints would reference fields that didn't exist in the data model. The tasks would include things that were never in the brief. Splitting into stages forced sequential reasoning — the same order a senior engineer actually thinks. That was the most important design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a:solidFill>
                  <a:schemeClr val="tx1"/>
                </a:solidFill>
                <a:effectLst/>
                <a:latin typeface="+mn-lt"/>
                <a:ea typeface="+mn-ea"/>
                <a:cs typeface="+mn-cs"/>
              </a:rPr>
              <a:t>This took under a minute. The same spec would have taken me a few hours manually, and I would have missed most of the open questions. Notice what got deferred — payroll, WhatsApp integration, AI scheduling. The explicit deferral rules in the prompts mean the founder's v2 ideas never contaminate the MVP task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a:solidFill>
                  <a:schemeClr val="tx1"/>
                </a:solidFill>
                <a:effectLst/>
                <a:latin typeface="+mn-lt"/>
                <a:ea typeface="+mn-ea"/>
                <a:cs typeface="+mn-cs"/>
              </a:rPr>
              <a:t>Switch to the browser now. While it generates, explain what each stage is doing. After Notion populates, open the Technical Spec note to show the formatted code blocks. Point at the open questions and say: these are the things I would not have thought to ask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a:solidFill>
                  <a:schemeClr val="tx1"/>
                </a:solidFill>
                <a:effectLst/>
                <a:latin typeface="+mn-lt"/>
                <a:ea typeface="+mn-ea"/>
                <a:cs typeface="+mn-cs"/>
              </a:rPr>
              <a:t>Without context-awareness, every brief run creates a fresh copy of every entity. Notion becomes useless within a week. With it, the tool works across multiple briefs and multiple ventures. The first version created three duplicate </a:t>
            </a:r>
            <a:r>
              <a:rPr lang="en-SG" sz="1200" b="0" i="0" kern="1200" dirty="0" err="1">
                <a:solidFill>
                  <a:schemeClr val="tx1"/>
                </a:solidFill>
                <a:effectLst/>
                <a:latin typeface="+mn-lt"/>
                <a:ea typeface="+mn-ea"/>
                <a:cs typeface="+mn-cs"/>
              </a:rPr>
              <a:t>LoanBridge</a:t>
            </a:r>
            <a:r>
              <a:rPr lang="en-SG" sz="1200" b="0" i="0" kern="1200" dirty="0">
                <a:solidFill>
                  <a:schemeClr val="tx1"/>
                </a:solidFill>
                <a:effectLst/>
                <a:latin typeface="+mn-lt"/>
                <a:ea typeface="+mn-ea"/>
                <a:cs typeface="+mn-cs"/>
              </a:rPr>
              <a:t> companies — that is what prompted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a:solidFill>
                  <a:schemeClr val="tx1"/>
                </a:solidFill>
                <a:effectLst/>
                <a:latin typeface="+mn-lt"/>
                <a:ea typeface="+mn-ea"/>
                <a:cs typeface="+mn-cs"/>
              </a:rPr>
              <a:t>I ran these tests specifically to find real failures, not speculate about them. Two tests worked fine — future-heavy briefs and non-technical briefs both handled correctly. The contradiction finding surprised me most. The output looked complete and reasonable. A senior engineer would have stopped at 'wait, which is it — free or commission?' The chain just continued.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a:solidFill>
                  <a:schemeClr val="tx1"/>
                </a:solidFill>
                <a:effectLst/>
                <a:latin typeface="+mn-lt"/>
                <a:ea typeface="+mn-ea"/>
                <a:cs typeface="+mn-cs"/>
              </a:rPr>
              <a:t>The skill-gap mapping one connects directly to what this brief is asking. The tool should not just tell me what to build — it should tell me which tasks I can own independently, which ones I can attempt with review, and which ones I need to learn before owning. That is the whole point of the apprenticeship.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a:solidFill>
                  <a:schemeClr val="tx1"/>
                </a:solidFill>
                <a:effectLst/>
                <a:latin typeface="+mn-lt"/>
                <a:ea typeface="+mn-ea"/>
                <a:cs typeface="+mn-cs"/>
              </a:rPr>
              <a:t>I am not claiming this replaces senior judgment. The output always needs a human pass. But a reviewable first draft of entities, APIs, open questions, and tasks is more useful than me staring at a brief for three days trying to figure out where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D4FF"/>
          </a:solidFill>
          <a:ln w="12700">
            <a:solidFill>
              <a:srgbClr val="00D4FF"/>
            </a:solidFill>
            <a:prstDash val="solid"/>
          </a:ln>
        </p:spPr>
        <p:txBody>
          <a:bodyPr/>
          <a:lstStyle/>
          <a:p>
            <a:endParaRPr lang="en-US"/>
          </a:p>
        </p:txBody>
      </p:sp>
      <p:sp>
        <p:nvSpPr>
          <p:cNvPr id="3" name="Text 1"/>
          <p:cNvSpPr/>
          <p:nvPr/>
        </p:nvSpPr>
        <p:spPr>
          <a:xfrm>
            <a:off x="457200" y="822960"/>
            <a:ext cx="8229600" cy="914400"/>
          </a:xfrm>
          <a:prstGeom prst="rect">
            <a:avLst/>
          </a:prstGeom>
          <a:noFill/>
          <a:ln/>
        </p:spPr>
        <p:txBody>
          <a:bodyPr wrap="square" lIns="0" tIns="0" rIns="0" bIns="0" rtlCol="0" anchor="ctr"/>
          <a:lstStyle/>
          <a:p>
            <a:pPr marL="0" indent="0">
              <a:buNone/>
            </a:pPr>
            <a:r>
              <a:rPr lang="en-US" sz="5200" b="1" dirty="0">
                <a:solidFill>
                  <a:srgbClr val="F0F4FF"/>
                </a:solidFill>
                <a:latin typeface="Calibri" pitchFamily="34" charset="0"/>
                <a:ea typeface="Calibri" pitchFamily="34" charset="-122"/>
                <a:cs typeface="Calibri" pitchFamily="34" charset="-120"/>
              </a:rPr>
              <a:t>Venture Brief</a:t>
            </a:r>
            <a:endParaRPr lang="en-US" sz="5200" dirty="0"/>
          </a:p>
        </p:txBody>
      </p:sp>
      <p:sp>
        <p:nvSpPr>
          <p:cNvPr id="4" name="Text 2"/>
          <p:cNvSpPr/>
          <p:nvPr/>
        </p:nvSpPr>
        <p:spPr>
          <a:xfrm>
            <a:off x="457200" y="1691640"/>
            <a:ext cx="8229600" cy="822960"/>
          </a:xfrm>
          <a:prstGeom prst="rect">
            <a:avLst/>
          </a:prstGeom>
          <a:noFill/>
          <a:ln/>
        </p:spPr>
        <p:txBody>
          <a:bodyPr wrap="square" lIns="0" tIns="0" rIns="0" bIns="0" rtlCol="0" anchor="ctr"/>
          <a:lstStyle/>
          <a:p>
            <a:pPr marL="0" indent="0">
              <a:buNone/>
            </a:pPr>
            <a:r>
              <a:rPr lang="en-US" sz="5200" b="1" dirty="0">
                <a:solidFill>
                  <a:srgbClr val="00D4FF"/>
                </a:solidFill>
                <a:latin typeface="Calibri" pitchFamily="34" charset="0"/>
                <a:ea typeface="Calibri" pitchFamily="34" charset="-122"/>
                <a:cs typeface="Calibri" pitchFamily="34" charset="-120"/>
              </a:rPr>
              <a:t>→ Technical Spec</a:t>
            </a:r>
            <a:endParaRPr lang="en-US" sz="5200" dirty="0"/>
          </a:p>
        </p:txBody>
      </p:sp>
      <p:sp>
        <p:nvSpPr>
          <p:cNvPr id="5" name="Text 3"/>
          <p:cNvSpPr/>
          <p:nvPr/>
        </p:nvSpPr>
        <p:spPr>
          <a:xfrm>
            <a:off x="457200" y="2743200"/>
            <a:ext cx="6400800" cy="822960"/>
          </a:xfrm>
          <a:prstGeom prst="rect">
            <a:avLst/>
          </a:prstGeom>
          <a:noFill/>
          <a:ln/>
        </p:spPr>
        <p:txBody>
          <a:bodyPr wrap="square" lIns="0" tIns="0" rIns="0" bIns="0" rtlCol="0" anchor="ctr"/>
          <a:lstStyle/>
          <a:p>
            <a:pPr marL="0" indent="0">
              <a:buNone/>
            </a:pPr>
            <a:r>
              <a:rPr lang="en-US" sz="1400" dirty="0">
                <a:solidFill>
                  <a:srgbClr val="7A8FAD"/>
                </a:solidFill>
                <a:latin typeface="Calibri" pitchFamily="34" charset="0"/>
                <a:ea typeface="Calibri" pitchFamily="34" charset="-122"/>
                <a:cs typeface="Calibri" pitchFamily="34" charset="-120"/>
              </a:rPr>
              <a:t>An 8-stage AI reasoning chain that turns a messy founder brief</a:t>
            </a:r>
            <a:endParaRPr lang="en-US" sz="1400" dirty="0"/>
          </a:p>
          <a:p>
            <a:pPr marL="0" indent="0">
              <a:buNone/>
            </a:pPr>
            <a:r>
              <a:rPr lang="en-US" sz="1400" dirty="0">
                <a:solidFill>
                  <a:srgbClr val="7A8FAD"/>
                </a:solidFill>
                <a:latin typeface="Calibri" pitchFamily="34" charset="0"/>
                <a:ea typeface="Calibri" pitchFamily="34" charset="-122"/>
                <a:cs typeface="Calibri" pitchFamily="34" charset="-120"/>
              </a:rPr>
              <a:t>into a structured spec - and pushes it into Notion.</a:t>
            </a:r>
            <a:endParaRPr lang="en-US" sz="1400" dirty="0"/>
          </a:p>
        </p:txBody>
      </p:sp>
      <p:sp>
        <p:nvSpPr>
          <p:cNvPr id="6" name="Text 4"/>
          <p:cNvSpPr/>
          <p:nvPr/>
        </p:nvSpPr>
        <p:spPr>
          <a:xfrm>
            <a:off x="457200" y="4297680"/>
            <a:ext cx="8229600" cy="274320"/>
          </a:xfrm>
          <a:prstGeom prst="rect">
            <a:avLst/>
          </a:prstGeom>
          <a:noFill/>
          <a:ln/>
        </p:spPr>
        <p:txBody>
          <a:bodyPr wrap="square" lIns="0" tIns="0" rIns="0" bIns="0" rtlCol="0" anchor="ctr"/>
          <a:lstStyle/>
          <a:p>
            <a:pPr marL="0" indent="0">
              <a:buNone/>
            </a:pPr>
            <a:r>
              <a:rPr lang="en-US" sz="1000" dirty="0">
                <a:solidFill>
                  <a:srgbClr val="4A5F7A"/>
                </a:solidFill>
                <a:latin typeface="Consolas" pitchFamily="34" charset="0"/>
                <a:ea typeface="Consolas" pitchFamily="34" charset="-122"/>
                <a:cs typeface="Consolas" pitchFamily="34" charset="-120"/>
              </a:rPr>
              <a:t>Himanshu Sharma  ·  NTU Computer Science 2027  ·  Liminal Apprentice Case Assessment</a:t>
            </a:r>
            <a:endParaRPr lang="en-US" sz="1000" dirty="0"/>
          </a:p>
        </p:txBody>
      </p:sp>
      <p:sp>
        <p:nvSpPr>
          <p:cNvPr id="7" name="Text 5"/>
          <p:cNvSpPr/>
          <p:nvPr/>
        </p:nvSpPr>
        <p:spPr>
          <a:xfrm>
            <a:off x="457200" y="4663440"/>
            <a:ext cx="3657600" cy="228600"/>
          </a:xfrm>
          <a:prstGeom prst="rect">
            <a:avLst/>
          </a:prstGeom>
          <a:noFill/>
          <a:ln/>
        </p:spPr>
        <p:txBody>
          <a:bodyPr wrap="square" lIns="0" tIns="0" rIns="0" bIns="0" rtlCol="0" anchor="ctr"/>
          <a:lstStyle/>
          <a:p>
            <a:pPr marL="0" indent="0">
              <a:buNone/>
            </a:pPr>
            <a:r>
              <a:rPr lang="en-US" sz="900" dirty="0">
                <a:solidFill>
                  <a:srgbClr val="0099BB"/>
                </a:solidFill>
                <a:latin typeface="Consolas" pitchFamily="34" charset="0"/>
                <a:ea typeface="Consolas" pitchFamily="34" charset="-122"/>
                <a:cs typeface="Consolas" pitchFamily="34" charset="-120"/>
              </a:rPr>
              <a:t>github.com/Himanshu492</a:t>
            </a:r>
            <a:endParaRPr lang="en-US" sz="900" dirty="0"/>
          </a:p>
        </p:txBody>
      </p:sp>
      <p:sp>
        <p:nvSpPr>
          <p:cNvPr id="8" name="Text 6"/>
          <p:cNvSpPr/>
          <p:nvPr/>
        </p:nvSpPr>
        <p:spPr>
          <a:xfrm>
            <a:off x="8412480" y="4754880"/>
            <a:ext cx="640080" cy="274320"/>
          </a:xfrm>
          <a:prstGeom prst="rect">
            <a:avLst/>
          </a:prstGeom>
          <a:noFill/>
          <a:ln/>
        </p:spPr>
        <p:txBody>
          <a:bodyPr wrap="square" rtlCol="0" anchor="ctr"/>
          <a:lstStyle/>
          <a:p>
            <a:pPr marL="0" indent="0" algn="r">
              <a:buNone/>
            </a:pPr>
            <a:r>
              <a:rPr lang="en-US" sz="900" dirty="0">
                <a:solidFill>
                  <a:srgbClr val="4A5F7A"/>
                </a:solidFill>
                <a:latin typeface="Consolas" pitchFamily="34" charset="0"/>
                <a:ea typeface="Consolas" pitchFamily="34" charset="-122"/>
                <a:cs typeface="Consolas" pitchFamily="34" charset="-120"/>
              </a:rPr>
              <a:t>1 /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365760" y="256032"/>
            <a:ext cx="1005840" cy="256032"/>
          </a:xfrm>
          <a:prstGeom prst="roundRect">
            <a:avLst/>
          </a:prstGeom>
          <a:solidFill>
            <a:srgbClr val="0099BB">
              <a:alpha val="20000"/>
            </a:srgbClr>
          </a:solidFill>
          <a:ln w="6350">
            <a:solidFill>
              <a:srgbClr val="00D4FF"/>
            </a:solidFill>
            <a:prstDash val="solid"/>
          </a:ln>
        </p:spPr>
        <p:txBody>
          <a:bodyPr/>
          <a:lstStyle/>
          <a:p>
            <a:endParaRPr lang="en-US"/>
          </a:p>
        </p:txBody>
      </p:sp>
      <p:sp>
        <p:nvSpPr>
          <p:cNvPr id="3" name="Text 1"/>
          <p:cNvSpPr/>
          <p:nvPr/>
        </p:nvSpPr>
        <p:spPr>
          <a:xfrm>
            <a:off x="365760" y="228600"/>
            <a:ext cx="1005840" cy="274320"/>
          </a:xfrm>
          <a:prstGeom prst="rect">
            <a:avLst/>
          </a:prstGeom>
          <a:noFill/>
          <a:ln/>
        </p:spPr>
        <p:txBody>
          <a:bodyPr wrap="square" lIns="0" tIns="0" rIns="0" bIns="0" rtlCol="0" anchor="ctr"/>
          <a:lstStyle/>
          <a:p>
            <a:pPr marL="0" indent="0" algn="ctr">
              <a:buNone/>
            </a:pPr>
            <a:r>
              <a:rPr lang="en-US" sz="800" b="1" dirty="0">
                <a:solidFill>
                  <a:srgbClr val="00D4FF"/>
                </a:solidFill>
                <a:latin typeface="Consolas" pitchFamily="34" charset="0"/>
                <a:ea typeface="Consolas" pitchFamily="34" charset="-122"/>
                <a:cs typeface="Consolas" pitchFamily="34" charset="-120"/>
              </a:rPr>
              <a:t>CONTENTS</a:t>
            </a:r>
            <a:endParaRPr lang="en-US" sz="800" dirty="0"/>
          </a:p>
        </p:txBody>
      </p:sp>
      <p:sp>
        <p:nvSpPr>
          <p:cNvPr id="4" name="Text 2"/>
          <p:cNvSpPr/>
          <p:nvPr/>
        </p:nvSpPr>
        <p:spPr>
          <a:xfrm>
            <a:off x="365760" y="594360"/>
            <a:ext cx="8412480" cy="548640"/>
          </a:xfrm>
          <a:prstGeom prst="rect">
            <a:avLst/>
          </a:prstGeom>
          <a:noFill/>
          <a:ln/>
        </p:spPr>
        <p:txBody>
          <a:bodyPr wrap="square" lIns="0" tIns="0" rIns="0" bIns="0" rtlCol="0" anchor="ctr"/>
          <a:lstStyle/>
          <a:p>
            <a:pPr marL="0" indent="0">
              <a:buNone/>
            </a:pPr>
            <a:r>
              <a:rPr lang="en-US" sz="2600" b="1" dirty="0">
                <a:solidFill>
                  <a:srgbClr val="F0F4FF"/>
                </a:solidFill>
                <a:latin typeface="Calibri" pitchFamily="34" charset="0"/>
                <a:ea typeface="Calibri" pitchFamily="34" charset="-122"/>
                <a:cs typeface="Calibri" pitchFamily="34" charset="-120"/>
              </a:rPr>
              <a:t>What We Will Cover</a:t>
            </a:r>
            <a:endParaRPr lang="en-US" sz="2600" dirty="0"/>
          </a:p>
        </p:txBody>
      </p:sp>
      <p:sp>
        <p:nvSpPr>
          <p:cNvPr id="5" name="Shape 3"/>
          <p:cNvSpPr/>
          <p:nvPr/>
        </p:nvSpPr>
        <p:spPr>
          <a:xfrm>
            <a:off x="365760" y="1188720"/>
            <a:ext cx="548640" cy="36576"/>
          </a:xfrm>
          <a:prstGeom prst="rect">
            <a:avLst/>
          </a:prstGeom>
          <a:solidFill>
            <a:srgbClr val="00D4FF"/>
          </a:solidFill>
          <a:ln w="12700">
            <a:solidFill>
              <a:srgbClr val="00D4FF"/>
            </a:solidFill>
            <a:prstDash val="solid"/>
          </a:ln>
        </p:spPr>
        <p:txBody>
          <a:bodyPr/>
          <a:lstStyle/>
          <a:p>
            <a:endParaRPr lang="en-US"/>
          </a:p>
        </p:txBody>
      </p:sp>
      <p:sp>
        <p:nvSpPr>
          <p:cNvPr id="6" name="Shape 4"/>
          <p:cNvSpPr/>
          <p:nvPr/>
        </p:nvSpPr>
        <p:spPr>
          <a:xfrm>
            <a:off x="365760" y="1463040"/>
            <a:ext cx="4206240" cy="475488"/>
          </a:xfrm>
          <a:prstGeom prst="rect">
            <a:avLst/>
          </a:prstGeom>
          <a:solidFill>
            <a:srgbClr val="131D30"/>
          </a:solidFill>
          <a:ln w="6350">
            <a:solidFill>
              <a:srgbClr val="FF5252"/>
            </a:solidFill>
            <a:prstDash val="solid"/>
          </a:ln>
        </p:spPr>
        <p:txBody>
          <a:bodyPr/>
          <a:lstStyle/>
          <a:p>
            <a:endParaRPr lang="en-US"/>
          </a:p>
        </p:txBody>
      </p:sp>
      <p:sp>
        <p:nvSpPr>
          <p:cNvPr id="7" name="Text 5"/>
          <p:cNvSpPr/>
          <p:nvPr/>
        </p:nvSpPr>
        <p:spPr>
          <a:xfrm>
            <a:off x="475488" y="1463040"/>
            <a:ext cx="320040" cy="475488"/>
          </a:xfrm>
          <a:prstGeom prst="rect">
            <a:avLst/>
          </a:prstGeom>
          <a:noFill/>
          <a:ln/>
        </p:spPr>
        <p:txBody>
          <a:bodyPr wrap="square" lIns="0" tIns="0" rIns="0" bIns="0" rtlCol="0" anchor="ctr"/>
          <a:lstStyle/>
          <a:p>
            <a:pPr marL="0" indent="0">
              <a:buNone/>
            </a:pPr>
            <a:r>
              <a:rPr lang="en-US" sz="1100" b="1" dirty="0">
                <a:solidFill>
                  <a:srgbClr val="FF5252"/>
                </a:solidFill>
                <a:latin typeface="Consolas" pitchFamily="34" charset="0"/>
                <a:ea typeface="Consolas" pitchFamily="34" charset="-122"/>
                <a:cs typeface="Consolas" pitchFamily="34" charset="-120"/>
              </a:rPr>
              <a:t>01</a:t>
            </a:r>
            <a:endParaRPr lang="en-US" sz="1100" dirty="0"/>
          </a:p>
        </p:txBody>
      </p:sp>
      <p:sp>
        <p:nvSpPr>
          <p:cNvPr id="8" name="Shape 6"/>
          <p:cNvSpPr/>
          <p:nvPr/>
        </p:nvSpPr>
        <p:spPr>
          <a:xfrm>
            <a:off x="804672" y="1572768"/>
            <a:ext cx="18288" cy="256032"/>
          </a:xfrm>
          <a:prstGeom prst="rect">
            <a:avLst/>
          </a:prstGeom>
          <a:solidFill>
            <a:srgbClr val="FF5252"/>
          </a:solidFill>
          <a:ln w="12700">
            <a:solidFill>
              <a:srgbClr val="FF5252"/>
            </a:solidFill>
            <a:prstDash val="solid"/>
          </a:ln>
        </p:spPr>
        <p:txBody>
          <a:bodyPr/>
          <a:lstStyle/>
          <a:p>
            <a:endParaRPr lang="en-US"/>
          </a:p>
        </p:txBody>
      </p:sp>
      <p:sp>
        <p:nvSpPr>
          <p:cNvPr id="9" name="Text 7"/>
          <p:cNvSpPr/>
          <p:nvPr/>
        </p:nvSpPr>
        <p:spPr>
          <a:xfrm>
            <a:off x="896112" y="1463040"/>
            <a:ext cx="3566160" cy="475488"/>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The Capability Gap</a:t>
            </a:r>
            <a:endParaRPr lang="en-US" sz="1200" dirty="0"/>
          </a:p>
        </p:txBody>
      </p:sp>
      <p:sp>
        <p:nvSpPr>
          <p:cNvPr id="10" name="Shape 8"/>
          <p:cNvSpPr/>
          <p:nvPr/>
        </p:nvSpPr>
        <p:spPr>
          <a:xfrm>
            <a:off x="365760" y="2057400"/>
            <a:ext cx="4206240" cy="475488"/>
          </a:xfrm>
          <a:prstGeom prst="rect">
            <a:avLst/>
          </a:prstGeom>
          <a:solidFill>
            <a:srgbClr val="131D30"/>
          </a:solidFill>
          <a:ln w="6350">
            <a:solidFill>
              <a:srgbClr val="00D4FF"/>
            </a:solidFill>
            <a:prstDash val="solid"/>
          </a:ln>
        </p:spPr>
        <p:txBody>
          <a:bodyPr/>
          <a:lstStyle/>
          <a:p>
            <a:endParaRPr lang="en-US"/>
          </a:p>
        </p:txBody>
      </p:sp>
      <p:sp>
        <p:nvSpPr>
          <p:cNvPr id="11" name="Text 9"/>
          <p:cNvSpPr/>
          <p:nvPr/>
        </p:nvSpPr>
        <p:spPr>
          <a:xfrm>
            <a:off x="475488" y="2057400"/>
            <a:ext cx="320040" cy="475488"/>
          </a:xfrm>
          <a:prstGeom prst="rect">
            <a:avLst/>
          </a:prstGeom>
          <a:noFill/>
          <a:ln/>
        </p:spPr>
        <p:txBody>
          <a:bodyPr wrap="square" lIns="0" tIns="0" rIns="0" bIns="0" rtlCol="0" anchor="ctr"/>
          <a:lstStyle/>
          <a:p>
            <a:pPr marL="0" indent="0">
              <a:buNone/>
            </a:pPr>
            <a:r>
              <a:rPr lang="en-US" sz="1100" b="1" dirty="0">
                <a:solidFill>
                  <a:srgbClr val="00D4FF"/>
                </a:solidFill>
                <a:latin typeface="Consolas" pitchFamily="34" charset="0"/>
                <a:ea typeface="Consolas" pitchFamily="34" charset="-122"/>
                <a:cs typeface="Consolas" pitchFamily="34" charset="-120"/>
              </a:rPr>
              <a:t>02</a:t>
            </a:r>
            <a:endParaRPr lang="en-US" sz="1100" dirty="0"/>
          </a:p>
        </p:txBody>
      </p:sp>
      <p:sp>
        <p:nvSpPr>
          <p:cNvPr id="12" name="Shape 10"/>
          <p:cNvSpPr/>
          <p:nvPr/>
        </p:nvSpPr>
        <p:spPr>
          <a:xfrm>
            <a:off x="804672" y="2167128"/>
            <a:ext cx="18288" cy="256032"/>
          </a:xfrm>
          <a:prstGeom prst="rect">
            <a:avLst/>
          </a:prstGeom>
          <a:solidFill>
            <a:srgbClr val="00D4FF"/>
          </a:solidFill>
          <a:ln w="12700">
            <a:solidFill>
              <a:srgbClr val="00D4FF"/>
            </a:solidFill>
            <a:prstDash val="solid"/>
          </a:ln>
        </p:spPr>
        <p:txBody>
          <a:bodyPr/>
          <a:lstStyle/>
          <a:p>
            <a:endParaRPr lang="en-US"/>
          </a:p>
        </p:txBody>
      </p:sp>
      <p:sp>
        <p:nvSpPr>
          <p:cNvPr id="13" name="Text 11"/>
          <p:cNvSpPr/>
          <p:nvPr/>
        </p:nvSpPr>
        <p:spPr>
          <a:xfrm>
            <a:off x="896112" y="2057400"/>
            <a:ext cx="3566160" cy="475488"/>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The 8-Stage AI Chain</a:t>
            </a:r>
            <a:endParaRPr lang="en-US" sz="1200" dirty="0"/>
          </a:p>
        </p:txBody>
      </p:sp>
      <p:sp>
        <p:nvSpPr>
          <p:cNvPr id="14" name="Shape 12"/>
          <p:cNvSpPr/>
          <p:nvPr/>
        </p:nvSpPr>
        <p:spPr>
          <a:xfrm>
            <a:off x="365760" y="2651760"/>
            <a:ext cx="4206240" cy="475488"/>
          </a:xfrm>
          <a:prstGeom prst="rect">
            <a:avLst/>
          </a:prstGeom>
          <a:solidFill>
            <a:srgbClr val="131D30"/>
          </a:solidFill>
          <a:ln w="6350">
            <a:solidFill>
              <a:srgbClr val="00E5A0"/>
            </a:solidFill>
            <a:prstDash val="solid"/>
          </a:ln>
        </p:spPr>
        <p:txBody>
          <a:bodyPr/>
          <a:lstStyle/>
          <a:p>
            <a:endParaRPr lang="en-US"/>
          </a:p>
        </p:txBody>
      </p:sp>
      <p:sp>
        <p:nvSpPr>
          <p:cNvPr id="15" name="Text 13"/>
          <p:cNvSpPr/>
          <p:nvPr/>
        </p:nvSpPr>
        <p:spPr>
          <a:xfrm>
            <a:off x="475488" y="2651760"/>
            <a:ext cx="320040" cy="475488"/>
          </a:xfrm>
          <a:prstGeom prst="rect">
            <a:avLst/>
          </a:prstGeom>
          <a:noFill/>
          <a:ln/>
        </p:spPr>
        <p:txBody>
          <a:bodyPr wrap="square" lIns="0" tIns="0" rIns="0" bIns="0" rtlCol="0" anchor="ctr"/>
          <a:lstStyle/>
          <a:p>
            <a:pPr marL="0" indent="0">
              <a:buNone/>
            </a:pPr>
            <a:r>
              <a:rPr lang="en-US" sz="1100" b="1" dirty="0">
                <a:solidFill>
                  <a:srgbClr val="00E5A0"/>
                </a:solidFill>
                <a:latin typeface="Consolas" pitchFamily="34" charset="0"/>
                <a:ea typeface="Consolas" pitchFamily="34" charset="-122"/>
                <a:cs typeface="Consolas" pitchFamily="34" charset="-120"/>
              </a:rPr>
              <a:t>03</a:t>
            </a:r>
            <a:endParaRPr lang="en-US" sz="1100" dirty="0"/>
          </a:p>
        </p:txBody>
      </p:sp>
      <p:sp>
        <p:nvSpPr>
          <p:cNvPr id="16" name="Shape 14"/>
          <p:cNvSpPr/>
          <p:nvPr/>
        </p:nvSpPr>
        <p:spPr>
          <a:xfrm>
            <a:off x="804672" y="2761488"/>
            <a:ext cx="18288" cy="256032"/>
          </a:xfrm>
          <a:prstGeom prst="rect">
            <a:avLst/>
          </a:prstGeom>
          <a:solidFill>
            <a:srgbClr val="00E5A0"/>
          </a:solidFill>
          <a:ln w="12700">
            <a:solidFill>
              <a:srgbClr val="00E5A0"/>
            </a:solidFill>
            <a:prstDash val="solid"/>
          </a:ln>
        </p:spPr>
        <p:txBody>
          <a:bodyPr/>
          <a:lstStyle/>
          <a:p>
            <a:endParaRPr lang="en-US"/>
          </a:p>
        </p:txBody>
      </p:sp>
      <p:sp>
        <p:nvSpPr>
          <p:cNvPr id="17" name="Text 15"/>
          <p:cNvSpPr/>
          <p:nvPr/>
        </p:nvSpPr>
        <p:spPr>
          <a:xfrm>
            <a:off x="896112" y="2651760"/>
            <a:ext cx="3566160" cy="475488"/>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Concrete Example Output</a:t>
            </a:r>
            <a:endParaRPr lang="en-US" sz="1200" dirty="0"/>
          </a:p>
        </p:txBody>
      </p:sp>
      <p:sp>
        <p:nvSpPr>
          <p:cNvPr id="18" name="Shape 16"/>
          <p:cNvSpPr/>
          <p:nvPr/>
        </p:nvSpPr>
        <p:spPr>
          <a:xfrm>
            <a:off x="365760" y="3246120"/>
            <a:ext cx="4206240" cy="475488"/>
          </a:xfrm>
          <a:prstGeom prst="rect">
            <a:avLst/>
          </a:prstGeom>
          <a:solidFill>
            <a:srgbClr val="131D30"/>
          </a:solidFill>
          <a:ln w="6350">
            <a:solidFill>
              <a:srgbClr val="FFB74D"/>
            </a:solidFill>
            <a:prstDash val="solid"/>
          </a:ln>
        </p:spPr>
        <p:txBody>
          <a:bodyPr/>
          <a:lstStyle/>
          <a:p>
            <a:endParaRPr lang="en-US"/>
          </a:p>
        </p:txBody>
      </p:sp>
      <p:sp>
        <p:nvSpPr>
          <p:cNvPr id="19" name="Text 17"/>
          <p:cNvSpPr/>
          <p:nvPr/>
        </p:nvSpPr>
        <p:spPr>
          <a:xfrm>
            <a:off x="475488" y="3246120"/>
            <a:ext cx="320040" cy="475488"/>
          </a:xfrm>
          <a:prstGeom prst="rect">
            <a:avLst/>
          </a:prstGeom>
          <a:noFill/>
          <a:ln/>
        </p:spPr>
        <p:txBody>
          <a:bodyPr wrap="square" lIns="0" tIns="0" rIns="0" bIns="0" rtlCol="0" anchor="ctr"/>
          <a:lstStyle/>
          <a:p>
            <a:pPr marL="0" indent="0">
              <a:buNone/>
            </a:pPr>
            <a:r>
              <a:rPr lang="en-US" sz="1100" b="1" dirty="0">
                <a:solidFill>
                  <a:srgbClr val="FFB74D"/>
                </a:solidFill>
                <a:latin typeface="Consolas" pitchFamily="34" charset="0"/>
                <a:ea typeface="Consolas" pitchFamily="34" charset="-122"/>
                <a:cs typeface="Consolas" pitchFamily="34" charset="-120"/>
              </a:rPr>
              <a:t>04</a:t>
            </a:r>
            <a:endParaRPr lang="en-US" sz="1100" dirty="0"/>
          </a:p>
        </p:txBody>
      </p:sp>
      <p:sp>
        <p:nvSpPr>
          <p:cNvPr id="20" name="Shape 18"/>
          <p:cNvSpPr/>
          <p:nvPr/>
        </p:nvSpPr>
        <p:spPr>
          <a:xfrm>
            <a:off x="804672" y="3355848"/>
            <a:ext cx="18288" cy="256032"/>
          </a:xfrm>
          <a:prstGeom prst="rect">
            <a:avLst/>
          </a:prstGeom>
          <a:solidFill>
            <a:srgbClr val="FFB74D"/>
          </a:solidFill>
          <a:ln w="12700">
            <a:solidFill>
              <a:srgbClr val="FFB74D"/>
            </a:solidFill>
            <a:prstDash val="solid"/>
          </a:ln>
        </p:spPr>
        <p:txBody>
          <a:bodyPr/>
          <a:lstStyle/>
          <a:p>
            <a:endParaRPr lang="en-US"/>
          </a:p>
        </p:txBody>
      </p:sp>
      <p:sp>
        <p:nvSpPr>
          <p:cNvPr id="21" name="Text 19"/>
          <p:cNvSpPr/>
          <p:nvPr/>
        </p:nvSpPr>
        <p:spPr>
          <a:xfrm>
            <a:off x="896112" y="3246120"/>
            <a:ext cx="3566160" cy="475488"/>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Live Demo</a:t>
            </a:r>
            <a:endParaRPr lang="en-US" sz="1200" dirty="0"/>
          </a:p>
        </p:txBody>
      </p:sp>
      <p:sp>
        <p:nvSpPr>
          <p:cNvPr id="22" name="Shape 20"/>
          <p:cNvSpPr/>
          <p:nvPr/>
        </p:nvSpPr>
        <p:spPr>
          <a:xfrm>
            <a:off x="4754880" y="1463040"/>
            <a:ext cx="4206240" cy="475488"/>
          </a:xfrm>
          <a:prstGeom prst="rect">
            <a:avLst/>
          </a:prstGeom>
          <a:solidFill>
            <a:srgbClr val="131D30"/>
          </a:solidFill>
          <a:ln w="6350">
            <a:solidFill>
              <a:srgbClr val="FF5252"/>
            </a:solidFill>
            <a:prstDash val="solid"/>
          </a:ln>
        </p:spPr>
        <p:txBody>
          <a:bodyPr/>
          <a:lstStyle/>
          <a:p>
            <a:endParaRPr lang="en-US"/>
          </a:p>
        </p:txBody>
      </p:sp>
      <p:sp>
        <p:nvSpPr>
          <p:cNvPr id="23" name="Text 21"/>
          <p:cNvSpPr/>
          <p:nvPr/>
        </p:nvSpPr>
        <p:spPr>
          <a:xfrm>
            <a:off x="4864608" y="1463040"/>
            <a:ext cx="320040" cy="475488"/>
          </a:xfrm>
          <a:prstGeom prst="rect">
            <a:avLst/>
          </a:prstGeom>
          <a:noFill/>
          <a:ln/>
        </p:spPr>
        <p:txBody>
          <a:bodyPr wrap="square" lIns="0" tIns="0" rIns="0" bIns="0" rtlCol="0" anchor="ctr"/>
          <a:lstStyle/>
          <a:p>
            <a:pPr marL="0" indent="0">
              <a:buNone/>
            </a:pPr>
            <a:r>
              <a:rPr lang="en-US" sz="1100" b="1" dirty="0">
                <a:solidFill>
                  <a:srgbClr val="FF5252"/>
                </a:solidFill>
                <a:latin typeface="Consolas" pitchFamily="34" charset="0"/>
                <a:ea typeface="Consolas" pitchFamily="34" charset="-122"/>
                <a:cs typeface="Consolas" pitchFamily="34" charset="-120"/>
              </a:rPr>
              <a:t>05</a:t>
            </a:r>
            <a:endParaRPr lang="en-US" sz="1100" dirty="0"/>
          </a:p>
        </p:txBody>
      </p:sp>
      <p:sp>
        <p:nvSpPr>
          <p:cNvPr id="24" name="Shape 22"/>
          <p:cNvSpPr/>
          <p:nvPr/>
        </p:nvSpPr>
        <p:spPr>
          <a:xfrm>
            <a:off x="5193792" y="1572768"/>
            <a:ext cx="18288" cy="256032"/>
          </a:xfrm>
          <a:prstGeom prst="rect">
            <a:avLst/>
          </a:prstGeom>
          <a:solidFill>
            <a:srgbClr val="FF5252"/>
          </a:solidFill>
          <a:ln w="12700">
            <a:solidFill>
              <a:srgbClr val="FF5252"/>
            </a:solidFill>
            <a:prstDash val="solid"/>
          </a:ln>
        </p:spPr>
        <p:txBody>
          <a:bodyPr/>
          <a:lstStyle/>
          <a:p>
            <a:endParaRPr lang="en-US"/>
          </a:p>
        </p:txBody>
      </p:sp>
      <p:sp>
        <p:nvSpPr>
          <p:cNvPr id="25" name="Text 23"/>
          <p:cNvSpPr/>
          <p:nvPr/>
        </p:nvSpPr>
        <p:spPr>
          <a:xfrm>
            <a:off x="5285232" y="1463040"/>
            <a:ext cx="3566160" cy="475488"/>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What Broke - Real Tests</a:t>
            </a:r>
            <a:endParaRPr lang="en-US" sz="1200" dirty="0"/>
          </a:p>
        </p:txBody>
      </p:sp>
      <p:sp>
        <p:nvSpPr>
          <p:cNvPr id="26" name="Shape 24"/>
          <p:cNvSpPr/>
          <p:nvPr/>
        </p:nvSpPr>
        <p:spPr>
          <a:xfrm>
            <a:off x="4754880" y="2057400"/>
            <a:ext cx="4206240" cy="475488"/>
          </a:xfrm>
          <a:prstGeom prst="rect">
            <a:avLst/>
          </a:prstGeom>
          <a:solidFill>
            <a:srgbClr val="131D30"/>
          </a:solidFill>
          <a:ln w="6350">
            <a:solidFill>
              <a:srgbClr val="B39DDB"/>
            </a:solidFill>
            <a:prstDash val="solid"/>
          </a:ln>
        </p:spPr>
        <p:txBody>
          <a:bodyPr/>
          <a:lstStyle/>
          <a:p>
            <a:endParaRPr lang="en-US"/>
          </a:p>
        </p:txBody>
      </p:sp>
      <p:sp>
        <p:nvSpPr>
          <p:cNvPr id="27" name="Text 25"/>
          <p:cNvSpPr/>
          <p:nvPr/>
        </p:nvSpPr>
        <p:spPr>
          <a:xfrm>
            <a:off x="4864608" y="2057400"/>
            <a:ext cx="320040" cy="475488"/>
          </a:xfrm>
          <a:prstGeom prst="rect">
            <a:avLst/>
          </a:prstGeom>
          <a:noFill/>
          <a:ln/>
        </p:spPr>
        <p:txBody>
          <a:bodyPr wrap="square" lIns="0" tIns="0" rIns="0" bIns="0" rtlCol="0" anchor="ctr"/>
          <a:lstStyle/>
          <a:p>
            <a:pPr marL="0" indent="0">
              <a:buNone/>
            </a:pPr>
            <a:r>
              <a:rPr lang="en-US" sz="1100" b="1" dirty="0">
                <a:solidFill>
                  <a:srgbClr val="B39DDB"/>
                </a:solidFill>
                <a:latin typeface="Consolas" pitchFamily="34" charset="0"/>
                <a:ea typeface="Consolas" pitchFamily="34" charset="-122"/>
                <a:cs typeface="Consolas" pitchFamily="34" charset="-120"/>
              </a:rPr>
              <a:t>06</a:t>
            </a:r>
            <a:endParaRPr lang="en-US" sz="1100" dirty="0"/>
          </a:p>
        </p:txBody>
      </p:sp>
      <p:sp>
        <p:nvSpPr>
          <p:cNvPr id="28" name="Shape 26"/>
          <p:cNvSpPr/>
          <p:nvPr/>
        </p:nvSpPr>
        <p:spPr>
          <a:xfrm>
            <a:off x="5193792" y="2167128"/>
            <a:ext cx="18288" cy="256032"/>
          </a:xfrm>
          <a:prstGeom prst="rect">
            <a:avLst/>
          </a:prstGeom>
          <a:solidFill>
            <a:srgbClr val="B39DDB"/>
          </a:solidFill>
          <a:ln w="12700">
            <a:solidFill>
              <a:srgbClr val="B39DDB"/>
            </a:solidFill>
            <a:prstDash val="solid"/>
          </a:ln>
        </p:spPr>
        <p:txBody>
          <a:bodyPr/>
          <a:lstStyle/>
          <a:p>
            <a:endParaRPr lang="en-US"/>
          </a:p>
        </p:txBody>
      </p:sp>
      <p:sp>
        <p:nvSpPr>
          <p:cNvPr id="29" name="Text 27"/>
          <p:cNvSpPr/>
          <p:nvPr/>
        </p:nvSpPr>
        <p:spPr>
          <a:xfrm>
            <a:off x="5285232" y="2057400"/>
            <a:ext cx="3566160" cy="475488"/>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What I Would Build Next</a:t>
            </a:r>
            <a:endParaRPr lang="en-US" sz="1200" dirty="0"/>
          </a:p>
        </p:txBody>
      </p:sp>
      <p:sp>
        <p:nvSpPr>
          <p:cNvPr id="30" name="Shape 28"/>
          <p:cNvSpPr/>
          <p:nvPr/>
        </p:nvSpPr>
        <p:spPr>
          <a:xfrm>
            <a:off x="4754880" y="2651760"/>
            <a:ext cx="4206240" cy="475488"/>
          </a:xfrm>
          <a:prstGeom prst="rect">
            <a:avLst/>
          </a:prstGeom>
          <a:solidFill>
            <a:srgbClr val="131D30"/>
          </a:solidFill>
          <a:ln w="6350">
            <a:solidFill>
              <a:srgbClr val="00E5A0"/>
            </a:solidFill>
            <a:prstDash val="solid"/>
          </a:ln>
        </p:spPr>
        <p:txBody>
          <a:bodyPr/>
          <a:lstStyle/>
          <a:p>
            <a:endParaRPr lang="en-US"/>
          </a:p>
        </p:txBody>
      </p:sp>
      <p:sp>
        <p:nvSpPr>
          <p:cNvPr id="31" name="Text 29"/>
          <p:cNvSpPr/>
          <p:nvPr/>
        </p:nvSpPr>
        <p:spPr>
          <a:xfrm>
            <a:off x="4864608" y="2651760"/>
            <a:ext cx="320040" cy="475488"/>
          </a:xfrm>
          <a:prstGeom prst="rect">
            <a:avLst/>
          </a:prstGeom>
          <a:noFill/>
          <a:ln/>
        </p:spPr>
        <p:txBody>
          <a:bodyPr wrap="square" lIns="0" tIns="0" rIns="0" bIns="0" rtlCol="0" anchor="ctr"/>
          <a:lstStyle/>
          <a:p>
            <a:pPr marL="0" indent="0">
              <a:buNone/>
            </a:pPr>
            <a:r>
              <a:rPr lang="en-US" sz="1100" b="1" dirty="0">
                <a:solidFill>
                  <a:srgbClr val="00E5A0"/>
                </a:solidFill>
                <a:latin typeface="Consolas" pitchFamily="34" charset="0"/>
                <a:ea typeface="Consolas" pitchFamily="34" charset="-122"/>
                <a:cs typeface="Consolas" pitchFamily="34" charset="-120"/>
              </a:rPr>
              <a:t>07</a:t>
            </a:r>
            <a:endParaRPr lang="en-US" sz="1100" dirty="0"/>
          </a:p>
        </p:txBody>
      </p:sp>
      <p:sp>
        <p:nvSpPr>
          <p:cNvPr id="32" name="Shape 30"/>
          <p:cNvSpPr/>
          <p:nvPr/>
        </p:nvSpPr>
        <p:spPr>
          <a:xfrm>
            <a:off x="5193792" y="2761488"/>
            <a:ext cx="18288" cy="256032"/>
          </a:xfrm>
          <a:prstGeom prst="rect">
            <a:avLst/>
          </a:prstGeom>
          <a:solidFill>
            <a:srgbClr val="00E5A0"/>
          </a:solidFill>
          <a:ln w="12700">
            <a:solidFill>
              <a:srgbClr val="00E5A0"/>
            </a:solidFill>
            <a:prstDash val="solid"/>
          </a:ln>
        </p:spPr>
        <p:txBody>
          <a:bodyPr/>
          <a:lstStyle/>
          <a:p>
            <a:endParaRPr lang="en-US"/>
          </a:p>
        </p:txBody>
      </p:sp>
      <p:sp>
        <p:nvSpPr>
          <p:cNvPr id="33" name="Text 31"/>
          <p:cNvSpPr/>
          <p:nvPr/>
        </p:nvSpPr>
        <p:spPr>
          <a:xfrm>
            <a:off x="5285232" y="2651760"/>
            <a:ext cx="3566160" cy="475488"/>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How I Contribute Day One</a:t>
            </a:r>
            <a:endParaRPr lang="en-US" sz="1200" dirty="0"/>
          </a:p>
        </p:txBody>
      </p:sp>
      <p:sp>
        <p:nvSpPr>
          <p:cNvPr id="34" name="Text 32"/>
          <p:cNvSpPr/>
          <p:nvPr/>
        </p:nvSpPr>
        <p:spPr>
          <a:xfrm>
            <a:off x="8412480" y="4754880"/>
            <a:ext cx="640080" cy="274320"/>
          </a:xfrm>
          <a:prstGeom prst="rect">
            <a:avLst/>
          </a:prstGeom>
          <a:noFill/>
          <a:ln/>
        </p:spPr>
        <p:txBody>
          <a:bodyPr wrap="square" rtlCol="0" anchor="ctr"/>
          <a:lstStyle/>
          <a:p>
            <a:pPr marL="0" indent="0" algn="r">
              <a:buNone/>
            </a:pPr>
            <a:r>
              <a:rPr lang="en-US" sz="900" dirty="0">
                <a:solidFill>
                  <a:srgbClr val="4A5F7A"/>
                </a:solidFill>
                <a:latin typeface="Consolas" pitchFamily="34" charset="0"/>
                <a:ea typeface="Consolas" pitchFamily="34" charset="-122"/>
                <a:cs typeface="Consolas"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365760" y="256032"/>
            <a:ext cx="1005840" cy="256032"/>
          </a:xfrm>
          <a:prstGeom prst="roundRect">
            <a:avLst/>
          </a:prstGeom>
          <a:solidFill>
            <a:srgbClr val="0099BB">
              <a:alpha val="20000"/>
            </a:srgbClr>
          </a:solidFill>
          <a:ln w="6350">
            <a:solidFill>
              <a:srgbClr val="00D4FF"/>
            </a:solidFill>
            <a:prstDash val="solid"/>
          </a:ln>
        </p:spPr>
        <p:txBody>
          <a:bodyPr/>
          <a:lstStyle/>
          <a:p>
            <a:endParaRPr lang="en-US"/>
          </a:p>
        </p:txBody>
      </p:sp>
      <p:sp>
        <p:nvSpPr>
          <p:cNvPr id="3" name="Text 1"/>
          <p:cNvSpPr/>
          <p:nvPr/>
        </p:nvSpPr>
        <p:spPr>
          <a:xfrm>
            <a:off x="365760" y="228600"/>
            <a:ext cx="1005840" cy="274320"/>
          </a:xfrm>
          <a:prstGeom prst="rect">
            <a:avLst/>
          </a:prstGeom>
          <a:noFill/>
          <a:ln/>
        </p:spPr>
        <p:txBody>
          <a:bodyPr wrap="square" lIns="0" tIns="0" rIns="0" bIns="0" rtlCol="0" anchor="ctr"/>
          <a:lstStyle/>
          <a:p>
            <a:pPr marL="0" indent="0" algn="ctr">
              <a:buNone/>
            </a:pPr>
            <a:r>
              <a:rPr lang="en-US" sz="800" b="1" dirty="0">
                <a:solidFill>
                  <a:srgbClr val="00D4FF"/>
                </a:solidFill>
                <a:latin typeface="Consolas" pitchFamily="34" charset="0"/>
                <a:ea typeface="Consolas" pitchFamily="34" charset="-122"/>
                <a:cs typeface="Consolas" pitchFamily="34" charset="-120"/>
              </a:rPr>
              <a:t>OVERVIEW</a:t>
            </a:r>
            <a:endParaRPr lang="en-US" sz="800" dirty="0"/>
          </a:p>
        </p:txBody>
      </p:sp>
      <p:sp>
        <p:nvSpPr>
          <p:cNvPr id="4" name="Text 2"/>
          <p:cNvSpPr/>
          <p:nvPr/>
        </p:nvSpPr>
        <p:spPr>
          <a:xfrm>
            <a:off x="365760" y="594360"/>
            <a:ext cx="8412480" cy="548640"/>
          </a:xfrm>
          <a:prstGeom prst="rect">
            <a:avLst/>
          </a:prstGeom>
          <a:noFill/>
          <a:ln/>
        </p:spPr>
        <p:txBody>
          <a:bodyPr wrap="square" lIns="0" tIns="0" rIns="0" bIns="0" rtlCol="0" anchor="ctr"/>
          <a:lstStyle/>
          <a:p>
            <a:pPr marL="0" indent="0">
              <a:buNone/>
            </a:pPr>
            <a:r>
              <a:rPr lang="en-US" sz="2600" b="1" dirty="0">
                <a:solidFill>
                  <a:srgbClr val="F0F4FF"/>
                </a:solidFill>
                <a:latin typeface="Calibri" pitchFamily="34" charset="0"/>
                <a:ea typeface="Calibri" pitchFamily="34" charset="-122"/>
                <a:cs typeface="Calibri" pitchFamily="34" charset="-120"/>
              </a:rPr>
              <a:t>The Project</a:t>
            </a:r>
            <a:endParaRPr lang="en-US" sz="2600" dirty="0"/>
          </a:p>
        </p:txBody>
      </p:sp>
      <p:sp>
        <p:nvSpPr>
          <p:cNvPr id="5" name="Text 3"/>
          <p:cNvSpPr/>
          <p:nvPr/>
        </p:nvSpPr>
        <p:spPr>
          <a:xfrm>
            <a:off x="365760" y="1097280"/>
            <a:ext cx="8412480" cy="320040"/>
          </a:xfrm>
          <a:prstGeom prst="rect">
            <a:avLst/>
          </a:prstGeom>
          <a:noFill/>
          <a:ln/>
        </p:spPr>
        <p:txBody>
          <a:bodyPr wrap="square" lIns="0" tIns="0" rIns="0" bIns="0" rtlCol="0" anchor="ctr"/>
          <a:lstStyle/>
          <a:p>
            <a:pPr marL="0" indent="0">
              <a:buNone/>
            </a:pPr>
            <a:r>
              <a:rPr lang="en-US" sz="1200" dirty="0">
                <a:solidFill>
                  <a:srgbClr val="7A8FAD"/>
                </a:solidFill>
                <a:latin typeface="Calibri" pitchFamily="34" charset="0"/>
                <a:ea typeface="Calibri" pitchFamily="34" charset="-122"/>
                <a:cs typeface="Calibri" pitchFamily="34" charset="-120"/>
              </a:rPr>
              <a:t>What it is and what it produces</a:t>
            </a:r>
            <a:endParaRPr lang="en-US" sz="1200" dirty="0"/>
          </a:p>
        </p:txBody>
      </p:sp>
      <p:sp>
        <p:nvSpPr>
          <p:cNvPr id="6" name="Shape 4"/>
          <p:cNvSpPr/>
          <p:nvPr/>
        </p:nvSpPr>
        <p:spPr>
          <a:xfrm>
            <a:off x="365760" y="1102754"/>
            <a:ext cx="548640" cy="36576"/>
          </a:xfrm>
          <a:prstGeom prst="rect">
            <a:avLst/>
          </a:prstGeom>
          <a:solidFill>
            <a:srgbClr val="00D4FF"/>
          </a:solidFill>
          <a:ln w="12700">
            <a:solidFill>
              <a:srgbClr val="00D4FF"/>
            </a:solidFill>
            <a:prstDash val="solid"/>
          </a:ln>
        </p:spPr>
        <p:txBody>
          <a:bodyPr/>
          <a:lstStyle/>
          <a:p>
            <a:endParaRPr lang="en-US"/>
          </a:p>
        </p:txBody>
      </p:sp>
      <p:sp>
        <p:nvSpPr>
          <p:cNvPr id="7" name="Shape 5"/>
          <p:cNvSpPr/>
          <p:nvPr/>
        </p:nvSpPr>
        <p:spPr>
          <a:xfrm>
            <a:off x="365760" y="1417320"/>
            <a:ext cx="5029200" cy="3383280"/>
          </a:xfrm>
          <a:prstGeom prst="rect">
            <a:avLst/>
          </a:prstGeom>
          <a:solidFill>
            <a:srgbClr val="131D30"/>
          </a:solidFill>
          <a:ln w="6350">
            <a:solidFill>
              <a:srgbClr val="00D4FF"/>
            </a:solidFill>
            <a:prstDash val="solid"/>
          </a:ln>
        </p:spPr>
        <p:txBody>
          <a:bodyPr/>
          <a:lstStyle/>
          <a:p>
            <a:endParaRPr lang="en-US"/>
          </a:p>
        </p:txBody>
      </p:sp>
      <p:sp>
        <p:nvSpPr>
          <p:cNvPr id="8" name="Text 6"/>
          <p:cNvSpPr/>
          <p:nvPr/>
        </p:nvSpPr>
        <p:spPr>
          <a:xfrm>
            <a:off x="548640" y="1508760"/>
            <a:ext cx="4663440" cy="3200400"/>
          </a:xfrm>
          <a:prstGeom prst="rect">
            <a:avLst/>
          </a:prstGeom>
          <a:noFill/>
          <a:ln/>
        </p:spPr>
        <p:txBody>
          <a:bodyPr wrap="square" lIns="0" tIns="0" rIns="0" bIns="0" rtlCol="0" anchor="t"/>
          <a:lstStyle/>
          <a:p>
            <a:pPr marL="0" indent="0">
              <a:spcAft>
                <a:spcPts val="600"/>
              </a:spcAft>
              <a:buNone/>
            </a:pPr>
            <a:r>
              <a:rPr lang="en-US" sz="1250" dirty="0">
                <a:solidFill>
                  <a:srgbClr val="F0F4FF"/>
                </a:solidFill>
                <a:latin typeface="Calibri" pitchFamily="34" charset="0"/>
                <a:ea typeface="Calibri" pitchFamily="34" charset="-122"/>
                <a:cs typeface="Calibri" pitchFamily="34" charset="-120"/>
              </a:rPr>
              <a:t>→  Takes a raw, messy founder brief as input</a:t>
            </a:r>
            <a:endParaRPr lang="en-US" sz="1250" dirty="0"/>
          </a:p>
          <a:p>
            <a:pPr marL="0" indent="0">
              <a:spcAft>
                <a:spcPts val="600"/>
              </a:spcAft>
              <a:buNone/>
            </a:pPr>
            <a:r>
              <a:rPr lang="en-US" sz="1250" dirty="0">
                <a:solidFill>
                  <a:srgbClr val="F0F4FF"/>
                </a:solidFill>
                <a:latin typeface="Calibri" pitchFamily="34" charset="0"/>
                <a:ea typeface="Calibri" pitchFamily="34" charset="-122"/>
                <a:cs typeface="Calibri" pitchFamily="34" charset="-120"/>
              </a:rPr>
              <a:t>→  Runs it through an 8-stage AI reasoning chain</a:t>
            </a:r>
            <a:endParaRPr lang="en-US" sz="1250" dirty="0"/>
          </a:p>
          <a:p>
            <a:pPr marL="0" indent="0">
              <a:spcAft>
                <a:spcPts val="600"/>
              </a:spcAft>
              <a:buNone/>
            </a:pPr>
            <a:r>
              <a:rPr lang="en-US" sz="1250" dirty="0">
                <a:solidFill>
                  <a:srgbClr val="F0F4FF"/>
                </a:solidFill>
                <a:latin typeface="Calibri" pitchFamily="34" charset="0"/>
                <a:ea typeface="Calibri" pitchFamily="34" charset="-122"/>
                <a:cs typeface="Calibri" pitchFamily="34" charset="-120"/>
              </a:rPr>
              <a:t>→  Outputs: data model, API design, production flags,</a:t>
            </a:r>
            <a:endParaRPr lang="en-US" sz="1250" dirty="0"/>
          </a:p>
          <a:p>
            <a:pPr marL="0" indent="0">
              <a:spcAft>
                <a:spcPts val="600"/>
              </a:spcAft>
              <a:buNone/>
            </a:pPr>
            <a:r>
              <a:rPr lang="en-US" sz="1250" dirty="0">
                <a:solidFill>
                  <a:srgbClr val="F0F4FF"/>
                </a:solidFill>
                <a:latin typeface="Calibri" pitchFamily="34" charset="0"/>
                <a:ea typeface="Calibri" pitchFamily="34" charset="-122"/>
                <a:cs typeface="Calibri" pitchFamily="34" charset="-120"/>
              </a:rPr>
              <a:t>     open questions, week-one task breakdown</a:t>
            </a:r>
            <a:endParaRPr lang="en-US" sz="1250" dirty="0"/>
          </a:p>
          <a:p>
            <a:pPr marL="0" indent="0">
              <a:spcAft>
                <a:spcPts val="600"/>
              </a:spcAft>
              <a:buNone/>
            </a:pPr>
            <a:r>
              <a:rPr lang="en-US" sz="1250" dirty="0">
                <a:solidFill>
                  <a:srgbClr val="F0F4FF"/>
                </a:solidFill>
                <a:latin typeface="Calibri" pitchFamily="34" charset="0"/>
                <a:ea typeface="Calibri" pitchFamily="34" charset="-122"/>
                <a:cs typeface="Calibri" pitchFamily="34" charset="-120"/>
              </a:rPr>
              <a:t>→  Pushes everything to Notion — projects, tasks,</a:t>
            </a:r>
            <a:endParaRPr lang="en-US" sz="1250" dirty="0"/>
          </a:p>
          <a:p>
            <a:pPr marL="0" indent="0">
              <a:spcAft>
                <a:spcPts val="600"/>
              </a:spcAft>
              <a:buNone/>
            </a:pPr>
            <a:r>
              <a:rPr lang="en-US" sz="1250" dirty="0">
                <a:solidFill>
                  <a:srgbClr val="F0F4FF"/>
                </a:solidFill>
                <a:latin typeface="Calibri" pitchFamily="34" charset="0"/>
                <a:ea typeface="Calibri" pitchFamily="34" charset="-122"/>
                <a:cs typeface="Calibri" pitchFamily="34" charset="-120"/>
              </a:rPr>
              <a:t>     structured note pages</a:t>
            </a:r>
            <a:endParaRPr lang="en-US" sz="1250" dirty="0"/>
          </a:p>
          <a:p>
            <a:pPr marL="0" indent="0">
              <a:spcAft>
                <a:spcPts val="600"/>
              </a:spcAft>
              <a:buNone/>
            </a:pPr>
            <a:r>
              <a:rPr lang="en-US" sz="1250" dirty="0">
                <a:solidFill>
                  <a:srgbClr val="F0F4FF"/>
                </a:solidFill>
                <a:latin typeface="Calibri" pitchFamily="34" charset="0"/>
                <a:ea typeface="Calibri" pitchFamily="34" charset="-122"/>
                <a:cs typeface="Calibri" pitchFamily="34" charset="-120"/>
              </a:rPr>
              <a:t>→  Human review stays in the loop before anything</a:t>
            </a:r>
            <a:endParaRPr lang="en-US" sz="1250" dirty="0"/>
          </a:p>
          <a:p>
            <a:pPr marL="0" indent="0">
              <a:spcAft>
                <a:spcPts val="600"/>
              </a:spcAft>
              <a:buNone/>
            </a:pPr>
            <a:r>
              <a:rPr lang="en-US" sz="1250" dirty="0">
                <a:solidFill>
                  <a:srgbClr val="F0F4FF"/>
                </a:solidFill>
                <a:latin typeface="Calibri" pitchFamily="34" charset="0"/>
                <a:ea typeface="Calibri" pitchFamily="34" charset="-122"/>
                <a:cs typeface="Calibri" pitchFamily="34" charset="-120"/>
              </a:rPr>
              <a:t>     goes to production</a:t>
            </a:r>
            <a:endParaRPr lang="en-US" sz="1250" dirty="0"/>
          </a:p>
        </p:txBody>
      </p:sp>
      <p:sp>
        <p:nvSpPr>
          <p:cNvPr id="9" name="Shape 7"/>
          <p:cNvSpPr/>
          <p:nvPr/>
        </p:nvSpPr>
        <p:spPr>
          <a:xfrm>
            <a:off x="5577840" y="1417320"/>
            <a:ext cx="3200400" cy="3383280"/>
          </a:xfrm>
          <a:prstGeom prst="rect">
            <a:avLst/>
          </a:prstGeom>
          <a:solidFill>
            <a:srgbClr val="131D30"/>
          </a:solidFill>
          <a:ln w="6350">
            <a:solidFill>
              <a:srgbClr val="1E2D47"/>
            </a:solidFill>
            <a:prstDash val="solid"/>
          </a:ln>
        </p:spPr>
        <p:txBody>
          <a:bodyPr/>
          <a:lstStyle/>
          <a:p>
            <a:endParaRPr lang="en-US"/>
          </a:p>
        </p:txBody>
      </p:sp>
      <p:sp>
        <p:nvSpPr>
          <p:cNvPr id="10" name="Text 8"/>
          <p:cNvSpPr/>
          <p:nvPr/>
        </p:nvSpPr>
        <p:spPr>
          <a:xfrm>
            <a:off x="5669280" y="1508760"/>
            <a:ext cx="3017520" cy="274320"/>
          </a:xfrm>
          <a:prstGeom prst="rect">
            <a:avLst/>
          </a:prstGeom>
          <a:noFill/>
          <a:ln/>
        </p:spPr>
        <p:txBody>
          <a:bodyPr wrap="square" lIns="0" tIns="0" rIns="0" bIns="0" rtlCol="0" anchor="ctr"/>
          <a:lstStyle/>
          <a:p>
            <a:pPr marL="0" indent="0">
              <a:buNone/>
            </a:pPr>
            <a:r>
              <a:rPr lang="en-US" sz="900" b="1" dirty="0">
                <a:solidFill>
                  <a:srgbClr val="7A8FAD"/>
                </a:solidFill>
                <a:latin typeface="Consolas" pitchFamily="34" charset="0"/>
                <a:ea typeface="Consolas" pitchFamily="34" charset="-122"/>
                <a:cs typeface="Consolas" pitchFamily="34" charset="-120"/>
              </a:rPr>
              <a:t>FLOW</a:t>
            </a:r>
            <a:endParaRPr lang="en-US" sz="900" dirty="0"/>
          </a:p>
        </p:txBody>
      </p:sp>
      <p:sp>
        <p:nvSpPr>
          <p:cNvPr id="11" name="Shape 9"/>
          <p:cNvSpPr/>
          <p:nvPr/>
        </p:nvSpPr>
        <p:spPr>
          <a:xfrm>
            <a:off x="5760720" y="1874520"/>
            <a:ext cx="2834640" cy="411480"/>
          </a:xfrm>
          <a:prstGeom prst="rect">
            <a:avLst/>
          </a:prstGeom>
          <a:solidFill>
            <a:srgbClr val="0F1829"/>
          </a:solidFill>
          <a:ln w="10160">
            <a:solidFill>
              <a:srgbClr val="FFB74D"/>
            </a:solidFill>
            <a:prstDash val="solid"/>
          </a:ln>
        </p:spPr>
        <p:txBody>
          <a:bodyPr/>
          <a:lstStyle/>
          <a:p>
            <a:endParaRPr lang="en-US"/>
          </a:p>
        </p:txBody>
      </p:sp>
      <p:sp>
        <p:nvSpPr>
          <p:cNvPr id="12" name="Text 10"/>
          <p:cNvSpPr/>
          <p:nvPr/>
        </p:nvSpPr>
        <p:spPr>
          <a:xfrm>
            <a:off x="5760720" y="1874520"/>
            <a:ext cx="2834640" cy="411480"/>
          </a:xfrm>
          <a:prstGeom prst="rect">
            <a:avLst/>
          </a:prstGeom>
          <a:noFill/>
          <a:ln/>
        </p:spPr>
        <p:txBody>
          <a:bodyPr wrap="square" lIns="0" tIns="0" rIns="0" bIns="0" rtlCol="0" anchor="ctr"/>
          <a:lstStyle/>
          <a:p>
            <a:pPr marL="0" indent="0" algn="ctr">
              <a:buNone/>
            </a:pPr>
            <a:r>
              <a:rPr lang="en-US" sz="1100" dirty="0">
                <a:solidFill>
                  <a:srgbClr val="FFB74D"/>
                </a:solidFill>
                <a:latin typeface="Consolas" pitchFamily="34" charset="0"/>
                <a:ea typeface="Consolas" pitchFamily="34" charset="-122"/>
                <a:cs typeface="Consolas" pitchFamily="34" charset="-120"/>
              </a:rPr>
              <a:t>founder brief</a:t>
            </a:r>
            <a:endParaRPr lang="en-US" sz="1100" dirty="0"/>
          </a:p>
        </p:txBody>
      </p:sp>
      <p:sp>
        <p:nvSpPr>
          <p:cNvPr id="13" name="Text 11"/>
          <p:cNvSpPr/>
          <p:nvPr/>
        </p:nvSpPr>
        <p:spPr>
          <a:xfrm>
            <a:off x="5760720" y="2286000"/>
            <a:ext cx="2834640" cy="274320"/>
          </a:xfrm>
          <a:prstGeom prst="rect">
            <a:avLst/>
          </a:prstGeom>
          <a:noFill/>
          <a:ln/>
        </p:spPr>
        <p:txBody>
          <a:bodyPr wrap="square" lIns="0" tIns="0" rIns="0" bIns="0" rtlCol="0" anchor="ctr"/>
          <a:lstStyle/>
          <a:p>
            <a:pPr marL="0" indent="0" algn="ctr">
              <a:buNone/>
            </a:pPr>
            <a:r>
              <a:rPr lang="en-US" sz="1400" dirty="0">
                <a:solidFill>
                  <a:srgbClr val="4A5F7A"/>
                </a:solidFill>
              </a:rPr>
              <a:t>↓</a:t>
            </a:r>
            <a:endParaRPr lang="en-US" sz="1400" dirty="0"/>
          </a:p>
        </p:txBody>
      </p:sp>
      <p:sp>
        <p:nvSpPr>
          <p:cNvPr id="14" name="Shape 12"/>
          <p:cNvSpPr/>
          <p:nvPr/>
        </p:nvSpPr>
        <p:spPr>
          <a:xfrm>
            <a:off x="5760720" y="2560320"/>
            <a:ext cx="2834640" cy="411480"/>
          </a:xfrm>
          <a:prstGeom prst="rect">
            <a:avLst/>
          </a:prstGeom>
          <a:solidFill>
            <a:srgbClr val="0F1829"/>
          </a:solidFill>
          <a:ln w="10160">
            <a:solidFill>
              <a:srgbClr val="00D4FF"/>
            </a:solidFill>
            <a:prstDash val="solid"/>
          </a:ln>
        </p:spPr>
        <p:txBody>
          <a:bodyPr/>
          <a:lstStyle/>
          <a:p>
            <a:endParaRPr lang="en-US"/>
          </a:p>
        </p:txBody>
      </p:sp>
      <p:sp>
        <p:nvSpPr>
          <p:cNvPr id="15" name="Text 13"/>
          <p:cNvSpPr/>
          <p:nvPr/>
        </p:nvSpPr>
        <p:spPr>
          <a:xfrm>
            <a:off x="5760720" y="2560320"/>
            <a:ext cx="2834640" cy="411480"/>
          </a:xfrm>
          <a:prstGeom prst="rect">
            <a:avLst/>
          </a:prstGeom>
          <a:noFill/>
          <a:ln/>
        </p:spPr>
        <p:txBody>
          <a:bodyPr wrap="square" lIns="0" tIns="0" rIns="0" bIns="0" rtlCol="0" anchor="ctr"/>
          <a:lstStyle/>
          <a:p>
            <a:pPr marL="0" indent="0" algn="ctr">
              <a:buNone/>
            </a:pPr>
            <a:r>
              <a:rPr lang="en-US" sz="1100" dirty="0">
                <a:solidFill>
                  <a:srgbClr val="00D4FF"/>
                </a:solidFill>
                <a:latin typeface="Consolas" pitchFamily="34" charset="0"/>
                <a:ea typeface="Consolas" pitchFamily="34" charset="-122"/>
                <a:cs typeface="Consolas" pitchFamily="34" charset="-120"/>
              </a:rPr>
              <a:t>8-stage chain</a:t>
            </a:r>
            <a:endParaRPr lang="en-US" sz="1100" dirty="0"/>
          </a:p>
        </p:txBody>
      </p:sp>
      <p:sp>
        <p:nvSpPr>
          <p:cNvPr id="16" name="Text 14"/>
          <p:cNvSpPr/>
          <p:nvPr/>
        </p:nvSpPr>
        <p:spPr>
          <a:xfrm>
            <a:off x="5760720" y="2971800"/>
            <a:ext cx="2834640" cy="274320"/>
          </a:xfrm>
          <a:prstGeom prst="rect">
            <a:avLst/>
          </a:prstGeom>
          <a:noFill/>
          <a:ln/>
        </p:spPr>
        <p:txBody>
          <a:bodyPr wrap="square" lIns="0" tIns="0" rIns="0" bIns="0" rtlCol="0" anchor="ctr"/>
          <a:lstStyle/>
          <a:p>
            <a:pPr marL="0" indent="0" algn="ctr">
              <a:buNone/>
            </a:pPr>
            <a:r>
              <a:rPr lang="en-US" sz="1400" dirty="0">
                <a:solidFill>
                  <a:srgbClr val="4A5F7A"/>
                </a:solidFill>
              </a:rPr>
              <a:t>↓</a:t>
            </a:r>
            <a:endParaRPr lang="en-US" sz="1400" dirty="0"/>
          </a:p>
        </p:txBody>
      </p:sp>
      <p:sp>
        <p:nvSpPr>
          <p:cNvPr id="17" name="Shape 15"/>
          <p:cNvSpPr/>
          <p:nvPr/>
        </p:nvSpPr>
        <p:spPr>
          <a:xfrm>
            <a:off x="5760720" y="3246120"/>
            <a:ext cx="2834640" cy="411480"/>
          </a:xfrm>
          <a:prstGeom prst="rect">
            <a:avLst/>
          </a:prstGeom>
          <a:solidFill>
            <a:srgbClr val="0F1829"/>
          </a:solidFill>
          <a:ln w="10160">
            <a:solidFill>
              <a:srgbClr val="00E5A0"/>
            </a:solidFill>
            <a:prstDash val="solid"/>
          </a:ln>
        </p:spPr>
        <p:txBody>
          <a:bodyPr/>
          <a:lstStyle/>
          <a:p>
            <a:endParaRPr lang="en-US"/>
          </a:p>
        </p:txBody>
      </p:sp>
      <p:sp>
        <p:nvSpPr>
          <p:cNvPr id="18" name="Text 16"/>
          <p:cNvSpPr/>
          <p:nvPr/>
        </p:nvSpPr>
        <p:spPr>
          <a:xfrm>
            <a:off x="5760720" y="3246120"/>
            <a:ext cx="2834640" cy="411480"/>
          </a:xfrm>
          <a:prstGeom prst="rect">
            <a:avLst/>
          </a:prstGeom>
          <a:noFill/>
          <a:ln/>
        </p:spPr>
        <p:txBody>
          <a:bodyPr wrap="square" lIns="0" tIns="0" rIns="0" bIns="0" rtlCol="0" anchor="ctr"/>
          <a:lstStyle/>
          <a:p>
            <a:pPr marL="0" indent="0" algn="ctr">
              <a:buNone/>
            </a:pPr>
            <a:r>
              <a:rPr lang="en-US" sz="1100" dirty="0">
                <a:solidFill>
                  <a:srgbClr val="00E5A0"/>
                </a:solidFill>
                <a:latin typeface="Consolas" pitchFamily="34" charset="0"/>
                <a:ea typeface="Consolas" pitchFamily="34" charset="-122"/>
                <a:cs typeface="Consolas" pitchFamily="34" charset="-120"/>
              </a:rPr>
              <a:t>structured spec</a:t>
            </a:r>
            <a:endParaRPr lang="en-US" sz="1100" dirty="0"/>
          </a:p>
        </p:txBody>
      </p:sp>
      <p:sp>
        <p:nvSpPr>
          <p:cNvPr id="19" name="Text 17"/>
          <p:cNvSpPr/>
          <p:nvPr/>
        </p:nvSpPr>
        <p:spPr>
          <a:xfrm>
            <a:off x="5760720" y="3657600"/>
            <a:ext cx="2834640" cy="274320"/>
          </a:xfrm>
          <a:prstGeom prst="rect">
            <a:avLst/>
          </a:prstGeom>
          <a:noFill/>
          <a:ln/>
        </p:spPr>
        <p:txBody>
          <a:bodyPr wrap="square" lIns="0" tIns="0" rIns="0" bIns="0" rtlCol="0" anchor="ctr"/>
          <a:lstStyle/>
          <a:p>
            <a:pPr marL="0" indent="0" algn="ctr">
              <a:buNone/>
            </a:pPr>
            <a:r>
              <a:rPr lang="en-US" sz="1400" dirty="0">
                <a:solidFill>
                  <a:srgbClr val="4A5F7A"/>
                </a:solidFill>
              </a:rPr>
              <a:t>↓</a:t>
            </a:r>
            <a:endParaRPr lang="en-US" sz="1400" dirty="0"/>
          </a:p>
        </p:txBody>
      </p:sp>
      <p:sp>
        <p:nvSpPr>
          <p:cNvPr id="20" name="Shape 18"/>
          <p:cNvSpPr/>
          <p:nvPr/>
        </p:nvSpPr>
        <p:spPr>
          <a:xfrm>
            <a:off x="5760720" y="3931920"/>
            <a:ext cx="2834640" cy="411480"/>
          </a:xfrm>
          <a:prstGeom prst="rect">
            <a:avLst/>
          </a:prstGeom>
          <a:solidFill>
            <a:srgbClr val="0F1829"/>
          </a:solidFill>
          <a:ln w="10160">
            <a:solidFill>
              <a:srgbClr val="00E5A0"/>
            </a:solidFill>
            <a:prstDash val="solid"/>
          </a:ln>
        </p:spPr>
        <p:txBody>
          <a:bodyPr/>
          <a:lstStyle/>
          <a:p>
            <a:endParaRPr lang="en-US"/>
          </a:p>
        </p:txBody>
      </p:sp>
      <p:sp>
        <p:nvSpPr>
          <p:cNvPr id="21" name="Text 19"/>
          <p:cNvSpPr/>
          <p:nvPr/>
        </p:nvSpPr>
        <p:spPr>
          <a:xfrm>
            <a:off x="5760720" y="3931920"/>
            <a:ext cx="2834640" cy="411480"/>
          </a:xfrm>
          <a:prstGeom prst="rect">
            <a:avLst/>
          </a:prstGeom>
          <a:noFill/>
          <a:ln/>
        </p:spPr>
        <p:txBody>
          <a:bodyPr wrap="square" lIns="0" tIns="0" rIns="0" bIns="0" rtlCol="0" anchor="ctr"/>
          <a:lstStyle/>
          <a:p>
            <a:pPr marL="0" indent="0" algn="ctr">
              <a:buNone/>
            </a:pPr>
            <a:r>
              <a:rPr lang="en-US" sz="1100" dirty="0">
                <a:solidFill>
                  <a:srgbClr val="00E5A0"/>
                </a:solidFill>
                <a:latin typeface="Consolas" pitchFamily="34" charset="0"/>
                <a:ea typeface="Consolas" pitchFamily="34" charset="-122"/>
                <a:cs typeface="Consolas" pitchFamily="34" charset="-120"/>
              </a:rPr>
              <a:t>notion workspace</a:t>
            </a:r>
            <a:endParaRPr lang="en-US" sz="1100" dirty="0"/>
          </a:p>
        </p:txBody>
      </p:sp>
      <p:sp>
        <p:nvSpPr>
          <p:cNvPr id="22" name="Text 20"/>
          <p:cNvSpPr/>
          <p:nvPr/>
        </p:nvSpPr>
        <p:spPr>
          <a:xfrm>
            <a:off x="8412480" y="4754880"/>
            <a:ext cx="640080" cy="274320"/>
          </a:xfrm>
          <a:prstGeom prst="rect">
            <a:avLst/>
          </a:prstGeom>
          <a:noFill/>
          <a:ln/>
        </p:spPr>
        <p:txBody>
          <a:bodyPr wrap="square" rtlCol="0" anchor="ctr"/>
          <a:lstStyle/>
          <a:p>
            <a:pPr marL="0" indent="0" algn="r">
              <a:buNone/>
            </a:pPr>
            <a:r>
              <a:rPr lang="en-US" sz="900" dirty="0">
                <a:solidFill>
                  <a:srgbClr val="4A5F7A"/>
                </a:solidFill>
                <a:latin typeface="Consolas" pitchFamily="34" charset="0"/>
                <a:ea typeface="Consolas" pitchFamily="34" charset="-122"/>
                <a:cs typeface="Consolas"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365760" y="256032"/>
            <a:ext cx="1005840" cy="256032"/>
          </a:xfrm>
          <a:prstGeom prst="roundRect">
            <a:avLst/>
          </a:prstGeom>
          <a:solidFill>
            <a:srgbClr val="FF5252">
              <a:alpha val="20000"/>
            </a:srgbClr>
          </a:solidFill>
          <a:ln w="6350">
            <a:solidFill>
              <a:srgbClr val="FF5252"/>
            </a:solidFill>
            <a:prstDash val="solid"/>
          </a:ln>
        </p:spPr>
        <p:txBody>
          <a:bodyPr/>
          <a:lstStyle/>
          <a:p>
            <a:endParaRPr lang="en-US"/>
          </a:p>
        </p:txBody>
      </p:sp>
      <p:sp>
        <p:nvSpPr>
          <p:cNvPr id="3" name="Text 1"/>
          <p:cNvSpPr/>
          <p:nvPr/>
        </p:nvSpPr>
        <p:spPr>
          <a:xfrm>
            <a:off x="365760" y="228600"/>
            <a:ext cx="1005840" cy="274320"/>
          </a:xfrm>
          <a:prstGeom prst="rect">
            <a:avLst/>
          </a:prstGeom>
          <a:noFill/>
          <a:ln/>
        </p:spPr>
        <p:txBody>
          <a:bodyPr wrap="square" lIns="0" tIns="0" rIns="0" bIns="0" rtlCol="0" anchor="ctr"/>
          <a:lstStyle/>
          <a:p>
            <a:pPr marL="0" indent="0" algn="ctr">
              <a:buNone/>
            </a:pPr>
            <a:r>
              <a:rPr lang="en-US" sz="800" b="1" dirty="0">
                <a:solidFill>
                  <a:srgbClr val="FF5252"/>
                </a:solidFill>
                <a:latin typeface="Consolas" pitchFamily="34" charset="0"/>
                <a:ea typeface="Consolas" pitchFamily="34" charset="-122"/>
                <a:cs typeface="Consolas" pitchFamily="34" charset="-120"/>
              </a:rPr>
              <a:t>PROBLEM</a:t>
            </a:r>
            <a:endParaRPr lang="en-US" sz="800" dirty="0"/>
          </a:p>
        </p:txBody>
      </p:sp>
      <p:sp>
        <p:nvSpPr>
          <p:cNvPr id="4" name="Text 2"/>
          <p:cNvSpPr/>
          <p:nvPr/>
        </p:nvSpPr>
        <p:spPr>
          <a:xfrm>
            <a:off x="365760" y="594360"/>
            <a:ext cx="8412480" cy="548640"/>
          </a:xfrm>
          <a:prstGeom prst="rect">
            <a:avLst/>
          </a:prstGeom>
          <a:noFill/>
          <a:ln/>
        </p:spPr>
        <p:txBody>
          <a:bodyPr wrap="square" lIns="0" tIns="0" rIns="0" bIns="0" rtlCol="0" anchor="ctr"/>
          <a:lstStyle/>
          <a:p>
            <a:pPr marL="0" indent="0">
              <a:buNone/>
            </a:pPr>
            <a:r>
              <a:rPr lang="en-US" sz="2600" b="1" dirty="0">
                <a:solidFill>
                  <a:srgbClr val="F0F4FF"/>
                </a:solidFill>
                <a:latin typeface="Calibri" pitchFamily="34" charset="0"/>
                <a:ea typeface="Calibri" pitchFamily="34" charset="-122"/>
                <a:cs typeface="Calibri" pitchFamily="34" charset="-120"/>
              </a:rPr>
              <a:t>The Capability Gap</a:t>
            </a:r>
            <a:endParaRPr lang="en-US" sz="2600" dirty="0"/>
          </a:p>
        </p:txBody>
      </p:sp>
      <p:sp>
        <p:nvSpPr>
          <p:cNvPr id="5" name="Text 3"/>
          <p:cNvSpPr/>
          <p:nvPr/>
        </p:nvSpPr>
        <p:spPr>
          <a:xfrm>
            <a:off x="365760" y="1097280"/>
            <a:ext cx="8412480" cy="320040"/>
          </a:xfrm>
          <a:prstGeom prst="rect">
            <a:avLst/>
          </a:prstGeom>
          <a:noFill/>
          <a:ln/>
        </p:spPr>
        <p:txBody>
          <a:bodyPr wrap="square" lIns="0" tIns="0" rIns="0" bIns="0" rtlCol="0" anchor="ctr"/>
          <a:lstStyle/>
          <a:p>
            <a:pPr marL="0" indent="0">
              <a:buNone/>
            </a:pPr>
            <a:r>
              <a:rPr lang="en-US" sz="1200" dirty="0">
                <a:solidFill>
                  <a:srgbClr val="7A8FAD"/>
                </a:solidFill>
                <a:latin typeface="Calibri" pitchFamily="34" charset="0"/>
                <a:ea typeface="Calibri" pitchFamily="34" charset="-122"/>
                <a:cs typeface="Calibri" pitchFamily="34" charset="-120"/>
              </a:rPr>
              <a:t>Why this matters at Liminal specifically</a:t>
            </a:r>
            <a:endParaRPr lang="en-US" sz="1200" dirty="0"/>
          </a:p>
        </p:txBody>
      </p:sp>
      <p:sp>
        <p:nvSpPr>
          <p:cNvPr id="6" name="Shape 4"/>
          <p:cNvSpPr/>
          <p:nvPr/>
        </p:nvSpPr>
        <p:spPr>
          <a:xfrm>
            <a:off x="365760" y="1087122"/>
            <a:ext cx="548640" cy="36576"/>
          </a:xfrm>
          <a:prstGeom prst="rect">
            <a:avLst/>
          </a:prstGeom>
          <a:solidFill>
            <a:srgbClr val="00D4FF"/>
          </a:solidFill>
          <a:ln w="12700">
            <a:solidFill>
              <a:srgbClr val="00D4FF"/>
            </a:solidFill>
            <a:prstDash val="solid"/>
          </a:ln>
        </p:spPr>
        <p:txBody>
          <a:bodyPr/>
          <a:lstStyle/>
          <a:p>
            <a:endParaRPr lang="en-US"/>
          </a:p>
        </p:txBody>
      </p:sp>
      <p:sp>
        <p:nvSpPr>
          <p:cNvPr id="7" name="Shape 5"/>
          <p:cNvSpPr/>
          <p:nvPr/>
        </p:nvSpPr>
        <p:spPr>
          <a:xfrm>
            <a:off x="365760" y="1417320"/>
            <a:ext cx="4114800" cy="1371600"/>
          </a:xfrm>
          <a:prstGeom prst="rect">
            <a:avLst/>
          </a:prstGeom>
          <a:solidFill>
            <a:srgbClr val="131D30"/>
          </a:solidFill>
          <a:ln w="6350">
            <a:solidFill>
              <a:srgbClr val="FF5252"/>
            </a:solidFill>
            <a:prstDash val="solid"/>
          </a:ln>
        </p:spPr>
        <p:txBody>
          <a:bodyPr/>
          <a:lstStyle/>
          <a:p>
            <a:endParaRPr lang="en-US"/>
          </a:p>
        </p:txBody>
      </p:sp>
      <p:sp>
        <p:nvSpPr>
          <p:cNvPr id="8" name="Text 6"/>
          <p:cNvSpPr/>
          <p:nvPr/>
        </p:nvSpPr>
        <p:spPr>
          <a:xfrm>
            <a:off x="502920" y="1508760"/>
            <a:ext cx="3840480" cy="274320"/>
          </a:xfrm>
          <a:prstGeom prst="rect">
            <a:avLst/>
          </a:prstGeom>
          <a:noFill/>
          <a:ln/>
        </p:spPr>
        <p:txBody>
          <a:bodyPr wrap="square" lIns="0" tIns="0" rIns="0" bIns="0" rtlCol="0" anchor="ctr"/>
          <a:lstStyle/>
          <a:p>
            <a:pPr marL="0" indent="0">
              <a:buNone/>
            </a:pPr>
            <a:r>
              <a:rPr lang="en-US" sz="900" b="1" dirty="0">
                <a:solidFill>
                  <a:srgbClr val="FF5252"/>
                </a:solidFill>
                <a:latin typeface="Consolas" pitchFamily="34" charset="0"/>
                <a:ea typeface="Consolas" pitchFamily="34" charset="-122"/>
                <a:cs typeface="Consolas" pitchFamily="34" charset="-120"/>
              </a:rPr>
              <a:t>WHAT A SENIOR DOES</a:t>
            </a:r>
            <a:endParaRPr lang="en-US" sz="900" dirty="0"/>
          </a:p>
        </p:txBody>
      </p:sp>
      <p:sp>
        <p:nvSpPr>
          <p:cNvPr id="9" name="Text 7"/>
          <p:cNvSpPr/>
          <p:nvPr/>
        </p:nvSpPr>
        <p:spPr>
          <a:xfrm>
            <a:off x="502920" y="1783080"/>
            <a:ext cx="3840480" cy="914400"/>
          </a:xfrm>
          <a:prstGeom prst="rect">
            <a:avLst/>
          </a:prstGeom>
          <a:noFill/>
          <a:ln/>
        </p:spPr>
        <p:txBody>
          <a:bodyPr wrap="square" lIns="0" tIns="0" rIns="0" bIns="0" rtlCol="0" anchor="t"/>
          <a:lstStyle/>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Reads brief → entities, APIs, tasks in ~1 hour</a:t>
            </a:r>
            <a:endParaRPr lang="en-US" sz="1100" dirty="0"/>
          </a:p>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Knows what to ask, assume, defer, flag</a:t>
            </a:r>
            <a:endParaRPr lang="en-US" sz="1100" dirty="0"/>
          </a:p>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Pattern recognition from many past projects</a:t>
            </a:r>
            <a:endParaRPr lang="en-US" sz="1100" dirty="0"/>
          </a:p>
        </p:txBody>
      </p:sp>
      <p:sp>
        <p:nvSpPr>
          <p:cNvPr id="10" name="Shape 8"/>
          <p:cNvSpPr/>
          <p:nvPr/>
        </p:nvSpPr>
        <p:spPr>
          <a:xfrm>
            <a:off x="4663440" y="1417320"/>
            <a:ext cx="4114800" cy="1371600"/>
          </a:xfrm>
          <a:prstGeom prst="rect">
            <a:avLst/>
          </a:prstGeom>
          <a:solidFill>
            <a:srgbClr val="131D30"/>
          </a:solidFill>
          <a:ln w="6350">
            <a:solidFill>
              <a:srgbClr val="00D4FF"/>
            </a:solidFill>
            <a:prstDash val="solid"/>
          </a:ln>
        </p:spPr>
        <p:txBody>
          <a:bodyPr/>
          <a:lstStyle/>
          <a:p>
            <a:endParaRPr lang="en-US"/>
          </a:p>
        </p:txBody>
      </p:sp>
      <p:sp>
        <p:nvSpPr>
          <p:cNvPr id="11" name="Text 9"/>
          <p:cNvSpPr/>
          <p:nvPr/>
        </p:nvSpPr>
        <p:spPr>
          <a:xfrm>
            <a:off x="4800600" y="1508760"/>
            <a:ext cx="3840480" cy="274320"/>
          </a:xfrm>
          <a:prstGeom prst="rect">
            <a:avLst/>
          </a:prstGeom>
          <a:noFill/>
          <a:ln/>
        </p:spPr>
        <p:txBody>
          <a:bodyPr wrap="square" lIns="0" tIns="0" rIns="0" bIns="0" rtlCol="0" anchor="ctr"/>
          <a:lstStyle/>
          <a:p>
            <a:pPr marL="0" indent="0">
              <a:buNone/>
            </a:pPr>
            <a:r>
              <a:rPr lang="en-US" sz="900" b="1" dirty="0">
                <a:solidFill>
                  <a:srgbClr val="00D4FF"/>
                </a:solidFill>
                <a:latin typeface="Consolas" pitchFamily="34" charset="0"/>
                <a:ea typeface="Consolas" pitchFamily="34" charset="-122"/>
                <a:cs typeface="Consolas" pitchFamily="34" charset="-120"/>
              </a:rPr>
              <a:t>WHAT I CAN DO</a:t>
            </a:r>
            <a:endParaRPr lang="en-US" sz="900" dirty="0"/>
          </a:p>
        </p:txBody>
      </p:sp>
      <p:sp>
        <p:nvSpPr>
          <p:cNvPr id="12" name="Text 10"/>
          <p:cNvSpPr/>
          <p:nvPr/>
        </p:nvSpPr>
        <p:spPr>
          <a:xfrm>
            <a:off x="4800600" y="1783080"/>
            <a:ext cx="3840480" cy="914400"/>
          </a:xfrm>
          <a:prstGeom prst="rect">
            <a:avLst/>
          </a:prstGeom>
          <a:noFill/>
          <a:ln/>
        </p:spPr>
        <p:txBody>
          <a:bodyPr wrap="square" lIns="0" tIns="0" rIns="0" bIns="0" rtlCol="0" anchor="t"/>
          <a:lstStyle/>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Ship APIs, write tests, debug, deploy</a:t>
            </a:r>
            <a:endParaRPr lang="en-US" sz="1100" dirty="0"/>
          </a:p>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RAG pipelines at Hyundai, UAT at EY</a:t>
            </a:r>
            <a:endParaRPr lang="en-US" sz="1100" dirty="0"/>
          </a:p>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1,500-user Telegram bot — end to end</a:t>
            </a:r>
            <a:endParaRPr lang="en-US" sz="1100" dirty="0"/>
          </a:p>
        </p:txBody>
      </p:sp>
      <p:sp>
        <p:nvSpPr>
          <p:cNvPr id="13" name="Shape 11"/>
          <p:cNvSpPr/>
          <p:nvPr/>
        </p:nvSpPr>
        <p:spPr>
          <a:xfrm>
            <a:off x="365760" y="2971800"/>
            <a:ext cx="8412480" cy="36576"/>
          </a:xfrm>
          <a:prstGeom prst="rect">
            <a:avLst/>
          </a:prstGeom>
          <a:solidFill>
            <a:srgbClr val="FFB74D"/>
          </a:solidFill>
          <a:ln w="12700">
            <a:solidFill>
              <a:srgbClr val="FFB74D"/>
            </a:solidFill>
            <a:prstDash val="solid"/>
          </a:ln>
        </p:spPr>
        <p:txBody>
          <a:bodyPr/>
          <a:lstStyle/>
          <a:p>
            <a:endParaRPr lang="en-US"/>
          </a:p>
        </p:txBody>
      </p:sp>
      <p:sp>
        <p:nvSpPr>
          <p:cNvPr id="14" name="Shape 12"/>
          <p:cNvSpPr/>
          <p:nvPr/>
        </p:nvSpPr>
        <p:spPr>
          <a:xfrm>
            <a:off x="365760" y="3063240"/>
            <a:ext cx="8412480" cy="1645920"/>
          </a:xfrm>
          <a:prstGeom prst="rect">
            <a:avLst/>
          </a:prstGeom>
          <a:solidFill>
            <a:srgbClr val="131D30"/>
          </a:solidFill>
          <a:ln w="6350">
            <a:solidFill>
              <a:srgbClr val="FFB74D"/>
            </a:solidFill>
            <a:prstDash val="solid"/>
          </a:ln>
        </p:spPr>
        <p:txBody>
          <a:bodyPr/>
          <a:lstStyle/>
          <a:p>
            <a:endParaRPr lang="en-US"/>
          </a:p>
        </p:txBody>
      </p:sp>
      <p:sp>
        <p:nvSpPr>
          <p:cNvPr id="15" name="Text 13"/>
          <p:cNvSpPr/>
          <p:nvPr/>
        </p:nvSpPr>
        <p:spPr>
          <a:xfrm>
            <a:off x="502920" y="3154680"/>
            <a:ext cx="8046720" cy="274320"/>
          </a:xfrm>
          <a:prstGeom prst="rect">
            <a:avLst/>
          </a:prstGeom>
          <a:noFill/>
          <a:ln/>
        </p:spPr>
        <p:txBody>
          <a:bodyPr wrap="square" lIns="0" tIns="0" rIns="0" bIns="0" rtlCol="0" anchor="ctr"/>
          <a:lstStyle/>
          <a:p>
            <a:pPr marL="0" indent="0">
              <a:buNone/>
            </a:pPr>
            <a:r>
              <a:rPr lang="en-US" sz="900" b="1" dirty="0">
                <a:solidFill>
                  <a:srgbClr val="FFB74D"/>
                </a:solidFill>
                <a:latin typeface="Consolas" pitchFamily="34" charset="0"/>
                <a:ea typeface="Consolas" pitchFamily="34" charset="-122"/>
                <a:cs typeface="Consolas" pitchFamily="34" charset="-120"/>
              </a:rPr>
              <a:t>THE GAP</a:t>
            </a:r>
            <a:endParaRPr lang="en-US" sz="900" dirty="0"/>
          </a:p>
        </p:txBody>
      </p:sp>
      <p:sp>
        <p:nvSpPr>
          <p:cNvPr id="16" name="Text 14"/>
          <p:cNvSpPr/>
          <p:nvPr/>
        </p:nvSpPr>
        <p:spPr>
          <a:xfrm>
            <a:off x="502920" y="3429000"/>
            <a:ext cx="8046720" cy="1097280"/>
          </a:xfrm>
          <a:prstGeom prst="rect">
            <a:avLst/>
          </a:prstGeom>
          <a:noFill/>
          <a:ln/>
        </p:spPr>
        <p:txBody>
          <a:bodyPr wrap="square" lIns="0" tIns="0" rIns="0" bIns="0" rtlCol="0" anchor="t"/>
          <a:lstStyle/>
          <a:p>
            <a:pPr marL="0" indent="0">
              <a:spcAft>
                <a:spcPts val="600"/>
              </a:spcAft>
              <a:buNone/>
            </a:pPr>
            <a:r>
              <a:rPr lang="en-US" sz="1200" dirty="0">
                <a:solidFill>
                  <a:srgbClr val="F0F4FF"/>
                </a:solidFill>
                <a:latin typeface="Calibri" pitchFamily="34" charset="0"/>
                <a:ea typeface="Calibri" pitchFamily="34" charset="-122"/>
                <a:cs typeface="Calibri" pitchFamily="34" charset="-120"/>
              </a:rPr>
              <a:t>→  Product-to-engineering translation — founder brief → buildable spec</a:t>
            </a:r>
            <a:endParaRPr lang="en-US" sz="1200" dirty="0"/>
          </a:p>
          <a:p>
            <a:pPr marL="0" indent="0">
              <a:spcAft>
                <a:spcPts val="600"/>
              </a:spcAft>
              <a:buNone/>
            </a:pPr>
            <a:r>
              <a:rPr lang="en-US" sz="1200" dirty="0">
                <a:solidFill>
                  <a:srgbClr val="F0F4FF"/>
                </a:solidFill>
                <a:latin typeface="Calibri" pitchFamily="34" charset="0"/>
                <a:ea typeface="Calibri" pitchFamily="34" charset="-122"/>
                <a:cs typeface="Calibri" pitchFamily="34" charset="-120"/>
              </a:rPr>
              <a:t>→  At Liminal: 3 active ventures, real ownership day one, no senior buffer</a:t>
            </a:r>
            <a:endParaRPr lang="en-US" sz="1200" dirty="0"/>
          </a:p>
          <a:p>
            <a:pPr marL="0" indent="0">
              <a:spcAft>
                <a:spcPts val="600"/>
              </a:spcAft>
              <a:buNone/>
            </a:pPr>
            <a:r>
              <a:rPr lang="en-US" sz="1200" dirty="0">
                <a:solidFill>
                  <a:srgbClr val="F0F4FF"/>
                </a:solidFill>
                <a:latin typeface="Calibri" pitchFamily="34" charset="0"/>
                <a:ea typeface="Calibri" pitchFamily="34" charset="-122"/>
                <a:cs typeface="Calibri" pitchFamily="34" charset="-120"/>
              </a:rPr>
              <a:t>→  Wrong spec is worse than no spec — it builds confidence in the wrong direction</a:t>
            </a:r>
            <a:endParaRPr lang="en-US" sz="1200" dirty="0"/>
          </a:p>
        </p:txBody>
      </p:sp>
      <p:sp>
        <p:nvSpPr>
          <p:cNvPr id="17" name="Text 15"/>
          <p:cNvSpPr/>
          <p:nvPr/>
        </p:nvSpPr>
        <p:spPr>
          <a:xfrm>
            <a:off x="8412480" y="4754880"/>
            <a:ext cx="640080" cy="274320"/>
          </a:xfrm>
          <a:prstGeom prst="rect">
            <a:avLst/>
          </a:prstGeom>
          <a:noFill/>
          <a:ln/>
        </p:spPr>
        <p:txBody>
          <a:bodyPr wrap="square" rtlCol="0" anchor="ctr"/>
          <a:lstStyle/>
          <a:p>
            <a:pPr marL="0" indent="0" algn="r">
              <a:buNone/>
            </a:pPr>
            <a:r>
              <a:rPr lang="en-US" sz="900" dirty="0">
                <a:solidFill>
                  <a:srgbClr val="4A5F7A"/>
                </a:solidFill>
                <a:latin typeface="Consolas" pitchFamily="34" charset="0"/>
                <a:ea typeface="Consolas" pitchFamily="34" charset="-122"/>
                <a:cs typeface="Consolas"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365760" y="256032"/>
            <a:ext cx="1005840" cy="256032"/>
          </a:xfrm>
          <a:prstGeom prst="roundRect">
            <a:avLst/>
          </a:prstGeom>
          <a:solidFill>
            <a:srgbClr val="00D4FF">
              <a:alpha val="20000"/>
            </a:srgbClr>
          </a:solidFill>
          <a:ln w="6350">
            <a:solidFill>
              <a:srgbClr val="00D4FF"/>
            </a:solidFill>
            <a:prstDash val="solid"/>
          </a:ln>
        </p:spPr>
        <p:txBody>
          <a:bodyPr/>
          <a:lstStyle/>
          <a:p>
            <a:endParaRPr lang="en-US"/>
          </a:p>
        </p:txBody>
      </p:sp>
      <p:sp>
        <p:nvSpPr>
          <p:cNvPr id="3" name="Text 1"/>
          <p:cNvSpPr/>
          <p:nvPr/>
        </p:nvSpPr>
        <p:spPr>
          <a:xfrm>
            <a:off x="365760" y="228600"/>
            <a:ext cx="1005840" cy="274320"/>
          </a:xfrm>
          <a:prstGeom prst="rect">
            <a:avLst/>
          </a:prstGeom>
          <a:noFill/>
          <a:ln/>
        </p:spPr>
        <p:txBody>
          <a:bodyPr wrap="square" lIns="0" tIns="0" rIns="0" bIns="0" rtlCol="0" anchor="ctr"/>
          <a:lstStyle/>
          <a:p>
            <a:pPr marL="0" indent="0" algn="ctr">
              <a:buNone/>
            </a:pPr>
            <a:r>
              <a:rPr lang="en-US" sz="800" b="1" dirty="0">
                <a:solidFill>
                  <a:srgbClr val="00D4FF"/>
                </a:solidFill>
                <a:latin typeface="Consolas" pitchFamily="34" charset="0"/>
                <a:ea typeface="Consolas" pitchFamily="34" charset="-122"/>
                <a:cs typeface="Consolas" pitchFamily="34" charset="-120"/>
              </a:rPr>
              <a:t>SOLUTION</a:t>
            </a:r>
            <a:endParaRPr lang="en-US" sz="800" dirty="0"/>
          </a:p>
        </p:txBody>
      </p:sp>
      <p:sp>
        <p:nvSpPr>
          <p:cNvPr id="4" name="Text 2"/>
          <p:cNvSpPr/>
          <p:nvPr/>
        </p:nvSpPr>
        <p:spPr>
          <a:xfrm>
            <a:off x="365760" y="594360"/>
            <a:ext cx="8412480" cy="548640"/>
          </a:xfrm>
          <a:prstGeom prst="rect">
            <a:avLst/>
          </a:prstGeom>
          <a:noFill/>
          <a:ln/>
        </p:spPr>
        <p:txBody>
          <a:bodyPr wrap="square" lIns="0" tIns="0" rIns="0" bIns="0" rtlCol="0" anchor="ctr"/>
          <a:lstStyle/>
          <a:p>
            <a:pPr marL="0" indent="0">
              <a:buNone/>
            </a:pPr>
            <a:r>
              <a:rPr lang="en-US" sz="2600" b="1" dirty="0">
                <a:solidFill>
                  <a:srgbClr val="F0F4FF"/>
                </a:solidFill>
                <a:latin typeface="Calibri" pitchFamily="34" charset="0"/>
                <a:ea typeface="Calibri" pitchFamily="34" charset="-122"/>
                <a:cs typeface="Calibri" pitchFamily="34" charset="-120"/>
              </a:rPr>
              <a:t>The 8-Stage AI Chain</a:t>
            </a:r>
            <a:endParaRPr lang="en-US" sz="2600" dirty="0"/>
          </a:p>
        </p:txBody>
      </p:sp>
      <p:sp>
        <p:nvSpPr>
          <p:cNvPr id="5" name="Text 3"/>
          <p:cNvSpPr/>
          <p:nvPr/>
        </p:nvSpPr>
        <p:spPr>
          <a:xfrm>
            <a:off x="365760" y="1097280"/>
            <a:ext cx="8412480" cy="320040"/>
          </a:xfrm>
          <a:prstGeom prst="rect">
            <a:avLst/>
          </a:prstGeom>
          <a:noFill/>
          <a:ln/>
        </p:spPr>
        <p:txBody>
          <a:bodyPr wrap="square" lIns="0" tIns="0" rIns="0" bIns="0" rtlCol="0" anchor="ctr"/>
          <a:lstStyle/>
          <a:p>
            <a:pPr marL="0" indent="0">
              <a:buNone/>
            </a:pPr>
            <a:r>
              <a:rPr lang="en-US" sz="1200" dirty="0">
                <a:solidFill>
                  <a:srgbClr val="7A8FAD"/>
                </a:solidFill>
                <a:latin typeface="Calibri" pitchFamily="34" charset="0"/>
                <a:ea typeface="Calibri" pitchFamily="34" charset="-122"/>
                <a:cs typeface="Calibri" pitchFamily="34" charset="-120"/>
              </a:rPr>
              <a:t>Why a chain, not one big prompt</a:t>
            </a:r>
            <a:endParaRPr lang="en-US" sz="1200" dirty="0"/>
          </a:p>
        </p:txBody>
      </p:sp>
      <p:sp>
        <p:nvSpPr>
          <p:cNvPr id="6" name="Shape 4"/>
          <p:cNvSpPr/>
          <p:nvPr/>
        </p:nvSpPr>
        <p:spPr>
          <a:xfrm>
            <a:off x="365760" y="1102752"/>
            <a:ext cx="548640" cy="36576"/>
          </a:xfrm>
          <a:prstGeom prst="rect">
            <a:avLst/>
          </a:prstGeom>
          <a:solidFill>
            <a:srgbClr val="00D4FF"/>
          </a:solidFill>
          <a:ln w="12700">
            <a:solidFill>
              <a:srgbClr val="00D4FF"/>
            </a:solidFill>
            <a:prstDash val="solid"/>
          </a:ln>
        </p:spPr>
        <p:txBody>
          <a:bodyPr/>
          <a:lstStyle/>
          <a:p>
            <a:endParaRPr lang="en-US"/>
          </a:p>
        </p:txBody>
      </p:sp>
      <p:sp>
        <p:nvSpPr>
          <p:cNvPr id="7" name="Shape 5"/>
          <p:cNvSpPr/>
          <p:nvPr/>
        </p:nvSpPr>
        <p:spPr>
          <a:xfrm>
            <a:off x="365760" y="1417320"/>
            <a:ext cx="4114800" cy="713232"/>
          </a:xfrm>
          <a:prstGeom prst="rect">
            <a:avLst/>
          </a:prstGeom>
          <a:solidFill>
            <a:srgbClr val="131D30"/>
          </a:solidFill>
          <a:ln w="6350">
            <a:solidFill>
              <a:srgbClr val="00D4FF"/>
            </a:solidFill>
            <a:prstDash val="solid"/>
          </a:ln>
        </p:spPr>
        <p:txBody>
          <a:bodyPr/>
          <a:lstStyle/>
          <a:p>
            <a:endParaRPr lang="en-US"/>
          </a:p>
        </p:txBody>
      </p:sp>
      <p:sp>
        <p:nvSpPr>
          <p:cNvPr id="8" name="Text 6"/>
          <p:cNvSpPr/>
          <p:nvPr/>
        </p:nvSpPr>
        <p:spPr>
          <a:xfrm>
            <a:off x="475488" y="1472184"/>
            <a:ext cx="3840480" cy="256032"/>
          </a:xfrm>
          <a:prstGeom prst="rect">
            <a:avLst/>
          </a:prstGeom>
          <a:noFill/>
          <a:ln/>
        </p:spPr>
        <p:txBody>
          <a:bodyPr wrap="square" lIns="0" tIns="0" rIns="0" bIns="0" rtlCol="0" anchor="ctr"/>
          <a:lstStyle/>
          <a:p>
            <a:pPr marL="0" indent="0">
              <a:buNone/>
            </a:pPr>
            <a:r>
              <a:rPr lang="en-US" sz="1000" b="1" dirty="0">
                <a:solidFill>
                  <a:srgbClr val="00D4FF"/>
                </a:solidFill>
                <a:latin typeface="Consolas" pitchFamily="34" charset="0"/>
                <a:ea typeface="Consolas" pitchFamily="34" charset="-122"/>
                <a:cs typeface="Consolas" pitchFamily="34" charset="-120"/>
              </a:rPr>
              <a:t>01 extract</a:t>
            </a:r>
            <a:endParaRPr lang="en-US" sz="1000" dirty="0"/>
          </a:p>
        </p:txBody>
      </p:sp>
      <p:sp>
        <p:nvSpPr>
          <p:cNvPr id="9" name="Text 7"/>
          <p:cNvSpPr/>
          <p:nvPr/>
        </p:nvSpPr>
        <p:spPr>
          <a:xfrm>
            <a:off x="475488" y="1737360"/>
            <a:ext cx="3840480" cy="292608"/>
          </a:xfrm>
          <a:prstGeom prst="rect">
            <a:avLst/>
          </a:prstGeom>
          <a:noFill/>
          <a:ln/>
        </p:spPr>
        <p:txBody>
          <a:bodyPr wrap="square" lIns="0" tIns="0" rIns="0" bIns="0" rtlCol="0" anchor="ctr"/>
          <a:lstStyle/>
          <a:p>
            <a:pPr marL="0" indent="0">
              <a:buNone/>
            </a:pPr>
            <a:r>
              <a:rPr lang="en-US" sz="1050" dirty="0">
                <a:solidFill>
                  <a:srgbClr val="7A8FAD"/>
                </a:solidFill>
                <a:latin typeface="Calibri" pitchFamily="34" charset="0"/>
                <a:ea typeface="Calibri" pitchFamily="34" charset="-122"/>
                <a:cs typeface="Calibri" pitchFamily="34" charset="-120"/>
              </a:rPr>
              <a:t>domain, users, actions, constraints</a:t>
            </a:r>
            <a:endParaRPr lang="en-US" sz="1050" dirty="0"/>
          </a:p>
        </p:txBody>
      </p:sp>
      <p:sp>
        <p:nvSpPr>
          <p:cNvPr id="10" name="Shape 8"/>
          <p:cNvSpPr/>
          <p:nvPr/>
        </p:nvSpPr>
        <p:spPr>
          <a:xfrm>
            <a:off x="365760" y="2286000"/>
            <a:ext cx="4114800" cy="713232"/>
          </a:xfrm>
          <a:prstGeom prst="rect">
            <a:avLst/>
          </a:prstGeom>
          <a:solidFill>
            <a:srgbClr val="131D30"/>
          </a:solidFill>
          <a:ln w="6350">
            <a:solidFill>
              <a:srgbClr val="00D4FF"/>
            </a:solidFill>
            <a:prstDash val="solid"/>
          </a:ln>
        </p:spPr>
        <p:txBody>
          <a:bodyPr/>
          <a:lstStyle/>
          <a:p>
            <a:endParaRPr lang="en-US"/>
          </a:p>
        </p:txBody>
      </p:sp>
      <p:sp>
        <p:nvSpPr>
          <p:cNvPr id="11" name="Text 9"/>
          <p:cNvSpPr/>
          <p:nvPr/>
        </p:nvSpPr>
        <p:spPr>
          <a:xfrm>
            <a:off x="475488" y="2340864"/>
            <a:ext cx="3840480" cy="256032"/>
          </a:xfrm>
          <a:prstGeom prst="rect">
            <a:avLst/>
          </a:prstGeom>
          <a:noFill/>
          <a:ln/>
        </p:spPr>
        <p:txBody>
          <a:bodyPr wrap="square" lIns="0" tIns="0" rIns="0" bIns="0" rtlCol="0" anchor="ctr"/>
          <a:lstStyle/>
          <a:p>
            <a:pPr marL="0" indent="0">
              <a:buNone/>
            </a:pPr>
            <a:r>
              <a:rPr lang="en-US" sz="1000" b="1" dirty="0">
                <a:solidFill>
                  <a:srgbClr val="00D4FF"/>
                </a:solidFill>
                <a:latin typeface="Consolas" pitchFamily="34" charset="0"/>
                <a:ea typeface="Consolas" pitchFamily="34" charset="-122"/>
                <a:cs typeface="Consolas" pitchFamily="34" charset="-120"/>
              </a:rPr>
              <a:t>02 data model</a:t>
            </a:r>
            <a:endParaRPr lang="en-US" sz="1000" dirty="0"/>
          </a:p>
        </p:txBody>
      </p:sp>
      <p:sp>
        <p:nvSpPr>
          <p:cNvPr id="12" name="Text 10"/>
          <p:cNvSpPr/>
          <p:nvPr/>
        </p:nvSpPr>
        <p:spPr>
          <a:xfrm>
            <a:off x="475488" y="2606040"/>
            <a:ext cx="3840480" cy="292608"/>
          </a:xfrm>
          <a:prstGeom prst="rect">
            <a:avLst/>
          </a:prstGeom>
          <a:noFill/>
          <a:ln/>
        </p:spPr>
        <p:txBody>
          <a:bodyPr wrap="square" lIns="0" tIns="0" rIns="0" bIns="0" rtlCol="0" anchor="ctr"/>
          <a:lstStyle/>
          <a:p>
            <a:pPr marL="0" indent="0">
              <a:buNone/>
            </a:pPr>
            <a:r>
              <a:rPr lang="en-US" sz="1050" dirty="0">
                <a:solidFill>
                  <a:srgbClr val="7A8FAD"/>
                </a:solidFill>
                <a:latin typeface="Calibri" pitchFamily="34" charset="0"/>
                <a:ea typeface="Calibri" pitchFamily="34" charset="-122"/>
                <a:cs typeface="Calibri" pitchFamily="34" charset="-120"/>
              </a:rPr>
              <a:t>every MVP table with fields and types</a:t>
            </a:r>
            <a:endParaRPr lang="en-US" sz="1050" dirty="0"/>
          </a:p>
        </p:txBody>
      </p:sp>
      <p:sp>
        <p:nvSpPr>
          <p:cNvPr id="13" name="Shape 11"/>
          <p:cNvSpPr/>
          <p:nvPr/>
        </p:nvSpPr>
        <p:spPr>
          <a:xfrm>
            <a:off x="365760" y="3154680"/>
            <a:ext cx="4114800" cy="713232"/>
          </a:xfrm>
          <a:prstGeom prst="rect">
            <a:avLst/>
          </a:prstGeom>
          <a:solidFill>
            <a:srgbClr val="131D30"/>
          </a:solidFill>
          <a:ln w="6350">
            <a:solidFill>
              <a:srgbClr val="00D4FF"/>
            </a:solidFill>
            <a:prstDash val="solid"/>
          </a:ln>
        </p:spPr>
        <p:txBody>
          <a:bodyPr/>
          <a:lstStyle/>
          <a:p>
            <a:endParaRPr lang="en-US"/>
          </a:p>
        </p:txBody>
      </p:sp>
      <p:sp>
        <p:nvSpPr>
          <p:cNvPr id="14" name="Text 12"/>
          <p:cNvSpPr/>
          <p:nvPr/>
        </p:nvSpPr>
        <p:spPr>
          <a:xfrm>
            <a:off x="475488" y="3209544"/>
            <a:ext cx="3840480" cy="256032"/>
          </a:xfrm>
          <a:prstGeom prst="rect">
            <a:avLst/>
          </a:prstGeom>
          <a:noFill/>
          <a:ln/>
        </p:spPr>
        <p:txBody>
          <a:bodyPr wrap="square" lIns="0" tIns="0" rIns="0" bIns="0" rtlCol="0" anchor="ctr"/>
          <a:lstStyle/>
          <a:p>
            <a:pPr marL="0" indent="0">
              <a:buNone/>
            </a:pPr>
            <a:r>
              <a:rPr lang="en-US" sz="1000" b="1" dirty="0">
                <a:solidFill>
                  <a:srgbClr val="00D4FF"/>
                </a:solidFill>
                <a:latin typeface="Consolas" pitchFamily="34" charset="0"/>
                <a:ea typeface="Consolas" pitchFamily="34" charset="-122"/>
                <a:cs typeface="Consolas" pitchFamily="34" charset="-120"/>
              </a:rPr>
              <a:t>03 api design</a:t>
            </a:r>
            <a:endParaRPr lang="en-US" sz="1000" dirty="0"/>
          </a:p>
        </p:txBody>
      </p:sp>
      <p:sp>
        <p:nvSpPr>
          <p:cNvPr id="15" name="Text 13"/>
          <p:cNvSpPr/>
          <p:nvPr/>
        </p:nvSpPr>
        <p:spPr>
          <a:xfrm>
            <a:off x="475488" y="3474720"/>
            <a:ext cx="3840480" cy="292608"/>
          </a:xfrm>
          <a:prstGeom prst="rect">
            <a:avLst/>
          </a:prstGeom>
          <a:noFill/>
          <a:ln/>
        </p:spPr>
        <p:txBody>
          <a:bodyPr wrap="square" lIns="0" tIns="0" rIns="0" bIns="0" rtlCol="0" anchor="ctr"/>
          <a:lstStyle/>
          <a:p>
            <a:pPr marL="0" indent="0">
              <a:buNone/>
            </a:pPr>
            <a:r>
              <a:rPr lang="en-US" sz="1050" dirty="0">
                <a:solidFill>
                  <a:srgbClr val="7A8FAD"/>
                </a:solidFill>
                <a:latin typeface="Calibri" pitchFamily="34" charset="0"/>
                <a:ea typeface="Calibri" pitchFamily="34" charset="-122"/>
                <a:cs typeface="Calibri" pitchFamily="34" charset="-120"/>
              </a:rPr>
              <a:t>REST endpoints grounded in the data model</a:t>
            </a:r>
            <a:endParaRPr lang="en-US" sz="1050" dirty="0"/>
          </a:p>
        </p:txBody>
      </p:sp>
      <p:sp>
        <p:nvSpPr>
          <p:cNvPr id="16" name="Shape 14"/>
          <p:cNvSpPr/>
          <p:nvPr/>
        </p:nvSpPr>
        <p:spPr>
          <a:xfrm>
            <a:off x="365760" y="4023360"/>
            <a:ext cx="4114800" cy="713232"/>
          </a:xfrm>
          <a:prstGeom prst="rect">
            <a:avLst/>
          </a:prstGeom>
          <a:solidFill>
            <a:srgbClr val="131D30"/>
          </a:solidFill>
          <a:ln w="6350">
            <a:solidFill>
              <a:srgbClr val="B39DDB"/>
            </a:solidFill>
            <a:prstDash val="solid"/>
          </a:ln>
        </p:spPr>
        <p:txBody>
          <a:bodyPr/>
          <a:lstStyle/>
          <a:p>
            <a:endParaRPr lang="en-US"/>
          </a:p>
        </p:txBody>
      </p:sp>
      <p:sp>
        <p:nvSpPr>
          <p:cNvPr id="17" name="Text 15"/>
          <p:cNvSpPr/>
          <p:nvPr/>
        </p:nvSpPr>
        <p:spPr>
          <a:xfrm>
            <a:off x="475488" y="4078224"/>
            <a:ext cx="3840480" cy="256032"/>
          </a:xfrm>
          <a:prstGeom prst="rect">
            <a:avLst/>
          </a:prstGeom>
          <a:noFill/>
          <a:ln/>
        </p:spPr>
        <p:txBody>
          <a:bodyPr wrap="square" lIns="0" tIns="0" rIns="0" bIns="0" rtlCol="0" anchor="ctr"/>
          <a:lstStyle/>
          <a:p>
            <a:pPr marL="0" indent="0">
              <a:buNone/>
            </a:pPr>
            <a:r>
              <a:rPr lang="en-US" sz="1000" b="1" dirty="0">
                <a:solidFill>
                  <a:srgbClr val="B39DDB"/>
                </a:solidFill>
                <a:latin typeface="Consolas" pitchFamily="34" charset="0"/>
                <a:ea typeface="Consolas" pitchFamily="34" charset="-122"/>
                <a:cs typeface="Consolas" pitchFamily="34" charset="-120"/>
              </a:rPr>
              <a:t>04 prod flags</a:t>
            </a:r>
            <a:endParaRPr lang="en-US" sz="1000" dirty="0"/>
          </a:p>
        </p:txBody>
      </p:sp>
      <p:sp>
        <p:nvSpPr>
          <p:cNvPr id="18" name="Text 16"/>
          <p:cNvSpPr/>
          <p:nvPr/>
        </p:nvSpPr>
        <p:spPr>
          <a:xfrm>
            <a:off x="475488" y="4343400"/>
            <a:ext cx="3840480" cy="292608"/>
          </a:xfrm>
          <a:prstGeom prst="rect">
            <a:avLst/>
          </a:prstGeom>
          <a:noFill/>
          <a:ln/>
        </p:spPr>
        <p:txBody>
          <a:bodyPr wrap="square" lIns="0" tIns="0" rIns="0" bIns="0" rtlCol="0" anchor="ctr"/>
          <a:lstStyle/>
          <a:p>
            <a:pPr marL="0" indent="0">
              <a:buNone/>
            </a:pPr>
            <a:r>
              <a:rPr lang="en-US" sz="1050" dirty="0">
                <a:solidFill>
                  <a:srgbClr val="7A8FAD"/>
                </a:solidFill>
                <a:latin typeface="Calibri" pitchFamily="34" charset="0"/>
                <a:ea typeface="Calibri" pitchFamily="34" charset="-122"/>
                <a:cs typeface="Calibri" pitchFamily="34" charset="-120"/>
              </a:rPr>
              <a:t>scale risks, security, deployment, defer</a:t>
            </a:r>
            <a:endParaRPr lang="en-US" sz="1050" dirty="0"/>
          </a:p>
        </p:txBody>
      </p:sp>
      <p:sp>
        <p:nvSpPr>
          <p:cNvPr id="19" name="Shape 17"/>
          <p:cNvSpPr/>
          <p:nvPr/>
        </p:nvSpPr>
        <p:spPr>
          <a:xfrm>
            <a:off x="4663440" y="1417320"/>
            <a:ext cx="4114800" cy="713232"/>
          </a:xfrm>
          <a:prstGeom prst="rect">
            <a:avLst/>
          </a:prstGeom>
          <a:solidFill>
            <a:srgbClr val="131D30"/>
          </a:solidFill>
          <a:ln w="6350">
            <a:solidFill>
              <a:srgbClr val="B39DDB"/>
            </a:solidFill>
            <a:prstDash val="solid"/>
          </a:ln>
        </p:spPr>
        <p:txBody>
          <a:bodyPr/>
          <a:lstStyle/>
          <a:p>
            <a:endParaRPr lang="en-US"/>
          </a:p>
        </p:txBody>
      </p:sp>
      <p:sp>
        <p:nvSpPr>
          <p:cNvPr id="20" name="Text 18"/>
          <p:cNvSpPr/>
          <p:nvPr/>
        </p:nvSpPr>
        <p:spPr>
          <a:xfrm>
            <a:off x="4773168" y="1472184"/>
            <a:ext cx="3840480" cy="256032"/>
          </a:xfrm>
          <a:prstGeom prst="rect">
            <a:avLst/>
          </a:prstGeom>
          <a:noFill/>
          <a:ln/>
        </p:spPr>
        <p:txBody>
          <a:bodyPr wrap="square" lIns="0" tIns="0" rIns="0" bIns="0" rtlCol="0" anchor="ctr"/>
          <a:lstStyle/>
          <a:p>
            <a:pPr marL="0" indent="0">
              <a:buNone/>
            </a:pPr>
            <a:r>
              <a:rPr lang="en-US" sz="1000" b="1" dirty="0">
                <a:solidFill>
                  <a:srgbClr val="B39DDB"/>
                </a:solidFill>
                <a:latin typeface="Consolas" pitchFamily="34" charset="0"/>
                <a:ea typeface="Consolas" pitchFamily="34" charset="-122"/>
                <a:cs typeface="Consolas" pitchFamily="34" charset="-120"/>
              </a:rPr>
              <a:t>05 open questions</a:t>
            </a:r>
            <a:endParaRPr lang="en-US" sz="1000" dirty="0"/>
          </a:p>
        </p:txBody>
      </p:sp>
      <p:sp>
        <p:nvSpPr>
          <p:cNvPr id="21" name="Text 19"/>
          <p:cNvSpPr/>
          <p:nvPr/>
        </p:nvSpPr>
        <p:spPr>
          <a:xfrm>
            <a:off x="4773168" y="1737360"/>
            <a:ext cx="3840480" cy="292608"/>
          </a:xfrm>
          <a:prstGeom prst="rect">
            <a:avLst/>
          </a:prstGeom>
          <a:noFill/>
          <a:ln/>
        </p:spPr>
        <p:txBody>
          <a:bodyPr wrap="square" lIns="0" tIns="0" rIns="0" bIns="0" rtlCol="0" anchor="ctr"/>
          <a:lstStyle/>
          <a:p>
            <a:pPr marL="0" indent="0">
              <a:buNone/>
            </a:pPr>
            <a:r>
              <a:rPr lang="en-US" sz="1050" dirty="0">
                <a:solidFill>
                  <a:srgbClr val="7A8FAD"/>
                </a:solidFill>
                <a:latin typeface="Calibri" pitchFamily="34" charset="0"/>
                <a:ea typeface="Calibri" pitchFamily="34" charset="-122"/>
                <a:cs typeface="Calibri" pitchFamily="34" charset="-120"/>
              </a:rPr>
              <a:t>blockers to answer before writing code</a:t>
            </a:r>
            <a:endParaRPr lang="en-US" sz="1050" dirty="0"/>
          </a:p>
        </p:txBody>
      </p:sp>
      <p:sp>
        <p:nvSpPr>
          <p:cNvPr id="22" name="Shape 20"/>
          <p:cNvSpPr/>
          <p:nvPr/>
        </p:nvSpPr>
        <p:spPr>
          <a:xfrm>
            <a:off x="4663440" y="2286000"/>
            <a:ext cx="4114800" cy="713232"/>
          </a:xfrm>
          <a:prstGeom prst="rect">
            <a:avLst/>
          </a:prstGeom>
          <a:solidFill>
            <a:srgbClr val="131D30"/>
          </a:solidFill>
          <a:ln w="6350">
            <a:solidFill>
              <a:srgbClr val="B39DDB"/>
            </a:solidFill>
            <a:prstDash val="solid"/>
          </a:ln>
        </p:spPr>
        <p:txBody>
          <a:bodyPr/>
          <a:lstStyle/>
          <a:p>
            <a:endParaRPr lang="en-US"/>
          </a:p>
        </p:txBody>
      </p:sp>
      <p:sp>
        <p:nvSpPr>
          <p:cNvPr id="23" name="Text 21"/>
          <p:cNvSpPr/>
          <p:nvPr/>
        </p:nvSpPr>
        <p:spPr>
          <a:xfrm>
            <a:off x="4773168" y="2340864"/>
            <a:ext cx="3840480" cy="256032"/>
          </a:xfrm>
          <a:prstGeom prst="rect">
            <a:avLst/>
          </a:prstGeom>
          <a:noFill/>
          <a:ln/>
        </p:spPr>
        <p:txBody>
          <a:bodyPr wrap="square" lIns="0" tIns="0" rIns="0" bIns="0" rtlCol="0" anchor="ctr"/>
          <a:lstStyle/>
          <a:p>
            <a:pPr marL="0" indent="0">
              <a:buNone/>
            </a:pPr>
            <a:r>
              <a:rPr lang="en-US" sz="1000" b="1" dirty="0">
                <a:solidFill>
                  <a:srgbClr val="B39DDB"/>
                </a:solidFill>
                <a:latin typeface="Consolas" pitchFamily="34" charset="0"/>
                <a:ea typeface="Consolas" pitchFamily="34" charset="-122"/>
                <a:cs typeface="Consolas" pitchFamily="34" charset="-120"/>
              </a:rPr>
              <a:t>06 week-1 tasks</a:t>
            </a:r>
            <a:endParaRPr lang="en-US" sz="1000" dirty="0"/>
          </a:p>
        </p:txBody>
      </p:sp>
      <p:sp>
        <p:nvSpPr>
          <p:cNvPr id="24" name="Text 22"/>
          <p:cNvSpPr/>
          <p:nvPr/>
        </p:nvSpPr>
        <p:spPr>
          <a:xfrm>
            <a:off x="4773168" y="2606040"/>
            <a:ext cx="3840480" cy="292608"/>
          </a:xfrm>
          <a:prstGeom prst="rect">
            <a:avLst/>
          </a:prstGeom>
          <a:noFill/>
          <a:ln/>
        </p:spPr>
        <p:txBody>
          <a:bodyPr wrap="square" lIns="0" tIns="0" rIns="0" bIns="0" rtlCol="0" anchor="ctr"/>
          <a:lstStyle/>
          <a:p>
            <a:pPr marL="0" indent="0">
              <a:buNone/>
            </a:pPr>
            <a:r>
              <a:rPr lang="en-US" sz="1050" dirty="0">
                <a:solidFill>
                  <a:srgbClr val="7A8FAD"/>
                </a:solidFill>
                <a:latin typeface="Calibri" pitchFamily="34" charset="0"/>
                <a:ea typeface="Calibri" pitchFamily="34" charset="-122"/>
                <a:cs typeface="Calibri" pitchFamily="34" charset="-120"/>
              </a:rPr>
              <a:t>must-build / defer / do not touch</a:t>
            </a:r>
            <a:endParaRPr lang="en-US" sz="1050" dirty="0"/>
          </a:p>
        </p:txBody>
      </p:sp>
      <p:sp>
        <p:nvSpPr>
          <p:cNvPr id="25" name="Shape 23"/>
          <p:cNvSpPr/>
          <p:nvPr/>
        </p:nvSpPr>
        <p:spPr>
          <a:xfrm>
            <a:off x="4663440" y="3154680"/>
            <a:ext cx="4114800" cy="713232"/>
          </a:xfrm>
          <a:prstGeom prst="rect">
            <a:avLst/>
          </a:prstGeom>
          <a:solidFill>
            <a:srgbClr val="131D30"/>
          </a:solidFill>
          <a:ln w="6350">
            <a:solidFill>
              <a:srgbClr val="00E5A0"/>
            </a:solidFill>
            <a:prstDash val="solid"/>
          </a:ln>
        </p:spPr>
        <p:txBody>
          <a:bodyPr/>
          <a:lstStyle/>
          <a:p>
            <a:endParaRPr lang="en-US"/>
          </a:p>
        </p:txBody>
      </p:sp>
      <p:sp>
        <p:nvSpPr>
          <p:cNvPr id="26" name="Text 24"/>
          <p:cNvSpPr/>
          <p:nvPr/>
        </p:nvSpPr>
        <p:spPr>
          <a:xfrm>
            <a:off x="4773168" y="3209544"/>
            <a:ext cx="3840480" cy="256032"/>
          </a:xfrm>
          <a:prstGeom prst="rect">
            <a:avLst/>
          </a:prstGeom>
          <a:noFill/>
          <a:ln/>
        </p:spPr>
        <p:txBody>
          <a:bodyPr wrap="square" lIns="0" tIns="0" rIns="0" bIns="0" rtlCol="0" anchor="ctr"/>
          <a:lstStyle/>
          <a:p>
            <a:pPr marL="0" indent="0">
              <a:buNone/>
            </a:pPr>
            <a:r>
              <a:rPr lang="en-US" sz="1000" b="1" dirty="0">
                <a:solidFill>
                  <a:srgbClr val="00E5A0"/>
                </a:solidFill>
                <a:latin typeface="Consolas" pitchFamily="34" charset="0"/>
                <a:ea typeface="Consolas" pitchFamily="34" charset="-122"/>
                <a:cs typeface="Consolas" pitchFamily="34" charset="-120"/>
              </a:rPr>
              <a:t>07 notion sync</a:t>
            </a:r>
            <a:endParaRPr lang="en-US" sz="1000" dirty="0"/>
          </a:p>
        </p:txBody>
      </p:sp>
      <p:sp>
        <p:nvSpPr>
          <p:cNvPr id="27" name="Text 25"/>
          <p:cNvSpPr/>
          <p:nvPr/>
        </p:nvSpPr>
        <p:spPr>
          <a:xfrm>
            <a:off x="4773168" y="3474720"/>
            <a:ext cx="3840480" cy="292608"/>
          </a:xfrm>
          <a:prstGeom prst="rect">
            <a:avLst/>
          </a:prstGeom>
          <a:noFill/>
          <a:ln/>
        </p:spPr>
        <p:txBody>
          <a:bodyPr wrap="square" lIns="0" tIns="0" rIns="0" bIns="0" rtlCol="0" anchor="ctr"/>
          <a:lstStyle/>
          <a:p>
            <a:pPr marL="0" indent="0">
              <a:buNone/>
            </a:pPr>
            <a:r>
              <a:rPr lang="en-US" sz="1050" dirty="0">
                <a:solidFill>
                  <a:srgbClr val="7A8FAD"/>
                </a:solidFill>
                <a:latin typeface="Calibri" pitchFamily="34" charset="0"/>
                <a:ea typeface="Calibri" pitchFamily="34" charset="-122"/>
                <a:cs typeface="Calibri" pitchFamily="34" charset="-120"/>
              </a:rPr>
              <a:t>JSON payload, context-aware, no duplicates</a:t>
            </a:r>
            <a:endParaRPr lang="en-US" sz="1050" dirty="0"/>
          </a:p>
        </p:txBody>
      </p:sp>
      <p:sp>
        <p:nvSpPr>
          <p:cNvPr id="28" name="Shape 26"/>
          <p:cNvSpPr/>
          <p:nvPr/>
        </p:nvSpPr>
        <p:spPr>
          <a:xfrm>
            <a:off x="4663440" y="4023360"/>
            <a:ext cx="4114800" cy="713232"/>
          </a:xfrm>
          <a:prstGeom prst="rect">
            <a:avLst/>
          </a:prstGeom>
          <a:solidFill>
            <a:srgbClr val="131D30"/>
          </a:solidFill>
          <a:ln w="6350">
            <a:solidFill>
              <a:srgbClr val="00E5A0"/>
            </a:solidFill>
            <a:prstDash val="solid"/>
          </a:ln>
        </p:spPr>
        <p:txBody>
          <a:bodyPr/>
          <a:lstStyle/>
          <a:p>
            <a:endParaRPr lang="en-US"/>
          </a:p>
        </p:txBody>
      </p:sp>
      <p:sp>
        <p:nvSpPr>
          <p:cNvPr id="29" name="Text 27"/>
          <p:cNvSpPr/>
          <p:nvPr/>
        </p:nvSpPr>
        <p:spPr>
          <a:xfrm>
            <a:off x="4773168" y="4078224"/>
            <a:ext cx="3840480" cy="256032"/>
          </a:xfrm>
          <a:prstGeom prst="rect">
            <a:avLst/>
          </a:prstGeom>
          <a:noFill/>
          <a:ln/>
        </p:spPr>
        <p:txBody>
          <a:bodyPr wrap="square" lIns="0" tIns="0" rIns="0" bIns="0" rtlCol="0" anchor="ctr"/>
          <a:lstStyle/>
          <a:p>
            <a:pPr marL="0" indent="0">
              <a:buNone/>
            </a:pPr>
            <a:r>
              <a:rPr lang="en-US" sz="1000" b="1" dirty="0">
                <a:solidFill>
                  <a:srgbClr val="00E5A0"/>
                </a:solidFill>
                <a:latin typeface="Consolas" pitchFamily="34" charset="0"/>
                <a:ea typeface="Consolas" pitchFamily="34" charset="-122"/>
                <a:cs typeface="Consolas" pitchFamily="34" charset="-120"/>
              </a:rPr>
              <a:t>08 meeting note</a:t>
            </a:r>
            <a:endParaRPr lang="en-US" sz="1000" dirty="0"/>
          </a:p>
        </p:txBody>
      </p:sp>
      <p:sp>
        <p:nvSpPr>
          <p:cNvPr id="30" name="Text 28"/>
          <p:cNvSpPr/>
          <p:nvPr/>
        </p:nvSpPr>
        <p:spPr>
          <a:xfrm>
            <a:off x="4773168" y="4343400"/>
            <a:ext cx="3840480" cy="292608"/>
          </a:xfrm>
          <a:prstGeom prst="rect">
            <a:avLst/>
          </a:prstGeom>
          <a:noFill/>
          <a:ln/>
        </p:spPr>
        <p:txBody>
          <a:bodyPr wrap="square" lIns="0" tIns="0" rIns="0" bIns="0" rtlCol="0" anchor="ctr"/>
          <a:lstStyle/>
          <a:p>
            <a:pPr marL="0" indent="0">
              <a:buNone/>
            </a:pPr>
            <a:r>
              <a:rPr lang="en-US" sz="1050" dirty="0">
                <a:solidFill>
                  <a:srgbClr val="7A8FAD"/>
                </a:solidFill>
                <a:latin typeface="Calibri" pitchFamily="34" charset="0"/>
                <a:ea typeface="Calibri" pitchFamily="34" charset="-122"/>
                <a:cs typeface="Calibri" pitchFamily="34" charset="-120"/>
              </a:rPr>
              <a:t>200-300 word discovery call summary</a:t>
            </a:r>
            <a:endParaRPr lang="en-US" sz="1050" dirty="0"/>
          </a:p>
        </p:txBody>
      </p:sp>
      <p:sp>
        <p:nvSpPr>
          <p:cNvPr id="31" name="Text 29"/>
          <p:cNvSpPr/>
          <p:nvPr/>
        </p:nvSpPr>
        <p:spPr>
          <a:xfrm>
            <a:off x="365760" y="4800600"/>
            <a:ext cx="8412480" cy="201168"/>
          </a:xfrm>
          <a:prstGeom prst="rect">
            <a:avLst/>
          </a:prstGeom>
          <a:noFill/>
          <a:ln/>
        </p:spPr>
        <p:txBody>
          <a:bodyPr wrap="square" lIns="0" tIns="0" rIns="0" bIns="0" rtlCol="0" anchor="ctr"/>
          <a:lstStyle/>
          <a:p>
            <a:pPr marL="0" indent="0">
              <a:buNone/>
            </a:pPr>
            <a:r>
              <a:rPr lang="en-US" sz="950" dirty="0">
                <a:solidFill>
                  <a:srgbClr val="4A5F7A"/>
                </a:solidFill>
                <a:latin typeface="Calibri" pitchFamily="34" charset="0"/>
                <a:ea typeface="Calibri" pitchFamily="34" charset="-122"/>
                <a:cs typeface="Calibri" pitchFamily="34" charset="-120"/>
              </a:rPr>
              <a:t>One big prompt = inconsistent output. Sequential chain = data model informs API, API informs tasks.</a:t>
            </a:r>
            <a:endParaRPr lang="en-US" sz="950" dirty="0"/>
          </a:p>
        </p:txBody>
      </p:sp>
      <p:sp>
        <p:nvSpPr>
          <p:cNvPr id="32" name="Text 30"/>
          <p:cNvSpPr/>
          <p:nvPr/>
        </p:nvSpPr>
        <p:spPr>
          <a:xfrm>
            <a:off x="8412480" y="4754880"/>
            <a:ext cx="640080" cy="274320"/>
          </a:xfrm>
          <a:prstGeom prst="rect">
            <a:avLst/>
          </a:prstGeom>
          <a:noFill/>
          <a:ln/>
        </p:spPr>
        <p:txBody>
          <a:bodyPr wrap="square" rtlCol="0" anchor="ctr"/>
          <a:lstStyle/>
          <a:p>
            <a:pPr marL="0" indent="0" algn="r">
              <a:buNone/>
            </a:pPr>
            <a:r>
              <a:rPr lang="en-US" sz="900" dirty="0">
                <a:solidFill>
                  <a:srgbClr val="4A5F7A"/>
                </a:solidFill>
                <a:latin typeface="Consolas" pitchFamily="34" charset="0"/>
                <a:ea typeface="Consolas" pitchFamily="34" charset="-122"/>
                <a:cs typeface="Consolas"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365760" y="256032"/>
            <a:ext cx="1005840" cy="256032"/>
          </a:xfrm>
          <a:prstGeom prst="roundRect">
            <a:avLst/>
          </a:prstGeom>
          <a:solidFill>
            <a:srgbClr val="00E5A0">
              <a:alpha val="20000"/>
            </a:srgbClr>
          </a:solidFill>
          <a:ln w="6350">
            <a:solidFill>
              <a:srgbClr val="00E5A0"/>
            </a:solidFill>
            <a:prstDash val="solid"/>
          </a:ln>
        </p:spPr>
        <p:txBody>
          <a:bodyPr/>
          <a:lstStyle/>
          <a:p>
            <a:endParaRPr lang="en-US"/>
          </a:p>
        </p:txBody>
      </p:sp>
      <p:sp>
        <p:nvSpPr>
          <p:cNvPr id="3" name="Text 1"/>
          <p:cNvSpPr/>
          <p:nvPr/>
        </p:nvSpPr>
        <p:spPr>
          <a:xfrm>
            <a:off x="365760" y="228600"/>
            <a:ext cx="1005840" cy="274320"/>
          </a:xfrm>
          <a:prstGeom prst="rect">
            <a:avLst/>
          </a:prstGeom>
          <a:noFill/>
          <a:ln/>
        </p:spPr>
        <p:txBody>
          <a:bodyPr wrap="square" lIns="0" tIns="0" rIns="0" bIns="0" rtlCol="0" anchor="ctr"/>
          <a:lstStyle/>
          <a:p>
            <a:pPr marL="0" indent="0" algn="ctr">
              <a:buNone/>
            </a:pPr>
            <a:r>
              <a:rPr lang="en-US" sz="800" b="1" dirty="0">
                <a:solidFill>
                  <a:srgbClr val="00E5A0"/>
                </a:solidFill>
                <a:latin typeface="Consolas" pitchFamily="34" charset="0"/>
                <a:ea typeface="Consolas" pitchFamily="34" charset="-122"/>
                <a:cs typeface="Consolas" pitchFamily="34" charset="-120"/>
              </a:rPr>
              <a:t>EXAMPLE</a:t>
            </a:r>
            <a:endParaRPr lang="en-US" sz="800" dirty="0"/>
          </a:p>
        </p:txBody>
      </p:sp>
      <p:sp>
        <p:nvSpPr>
          <p:cNvPr id="4" name="Text 2"/>
          <p:cNvSpPr/>
          <p:nvPr/>
        </p:nvSpPr>
        <p:spPr>
          <a:xfrm>
            <a:off x="365760" y="594360"/>
            <a:ext cx="8412480" cy="548640"/>
          </a:xfrm>
          <a:prstGeom prst="rect">
            <a:avLst/>
          </a:prstGeom>
          <a:noFill/>
          <a:ln/>
        </p:spPr>
        <p:txBody>
          <a:bodyPr wrap="square" lIns="0" tIns="0" rIns="0" bIns="0" rtlCol="0" anchor="ctr"/>
          <a:lstStyle/>
          <a:p>
            <a:pPr marL="0" indent="0">
              <a:buNone/>
            </a:pPr>
            <a:r>
              <a:rPr lang="en-US" sz="2600" b="1" dirty="0">
                <a:solidFill>
                  <a:srgbClr val="F0F4FF"/>
                </a:solidFill>
                <a:latin typeface="Calibri" pitchFamily="34" charset="0"/>
                <a:ea typeface="Calibri" pitchFamily="34" charset="-122"/>
                <a:cs typeface="Calibri" pitchFamily="34" charset="-120"/>
              </a:rPr>
              <a:t>Concrete Example Output</a:t>
            </a:r>
            <a:endParaRPr lang="en-US" sz="2600" dirty="0"/>
          </a:p>
        </p:txBody>
      </p:sp>
      <p:sp>
        <p:nvSpPr>
          <p:cNvPr id="5" name="Text 3"/>
          <p:cNvSpPr/>
          <p:nvPr/>
        </p:nvSpPr>
        <p:spPr>
          <a:xfrm>
            <a:off x="365760" y="1097280"/>
            <a:ext cx="8412480" cy="320040"/>
          </a:xfrm>
          <a:prstGeom prst="rect">
            <a:avLst/>
          </a:prstGeom>
          <a:noFill/>
          <a:ln/>
        </p:spPr>
        <p:txBody>
          <a:bodyPr wrap="square" lIns="0" tIns="0" rIns="0" bIns="0" rtlCol="0" anchor="ctr"/>
          <a:lstStyle/>
          <a:p>
            <a:pPr marL="0" indent="0">
              <a:buNone/>
            </a:pPr>
            <a:r>
              <a:rPr lang="en-US" sz="1200" dirty="0">
                <a:solidFill>
                  <a:srgbClr val="7A8FAD"/>
                </a:solidFill>
                <a:latin typeface="Calibri" pitchFamily="34" charset="0"/>
                <a:ea typeface="Calibri" pitchFamily="34" charset="-122"/>
                <a:cs typeface="Calibri" pitchFamily="34" charset="-120"/>
              </a:rPr>
              <a:t>Restaurant scheduling brief - replace WhatsApp shift management</a:t>
            </a:r>
            <a:endParaRPr lang="en-US" sz="1200" dirty="0"/>
          </a:p>
        </p:txBody>
      </p:sp>
      <p:sp>
        <p:nvSpPr>
          <p:cNvPr id="6" name="Shape 4"/>
          <p:cNvSpPr/>
          <p:nvPr/>
        </p:nvSpPr>
        <p:spPr>
          <a:xfrm>
            <a:off x="365760" y="1094939"/>
            <a:ext cx="548640" cy="36576"/>
          </a:xfrm>
          <a:prstGeom prst="rect">
            <a:avLst/>
          </a:prstGeom>
          <a:solidFill>
            <a:srgbClr val="00D4FF"/>
          </a:solidFill>
          <a:ln w="12700">
            <a:solidFill>
              <a:srgbClr val="00D4FF"/>
            </a:solidFill>
            <a:prstDash val="solid"/>
          </a:ln>
        </p:spPr>
        <p:txBody>
          <a:bodyPr/>
          <a:lstStyle/>
          <a:p>
            <a:endParaRPr lang="en-US"/>
          </a:p>
        </p:txBody>
      </p:sp>
      <p:sp>
        <p:nvSpPr>
          <p:cNvPr id="7" name="Shape 5"/>
          <p:cNvSpPr/>
          <p:nvPr/>
        </p:nvSpPr>
        <p:spPr>
          <a:xfrm>
            <a:off x="365760" y="1417320"/>
            <a:ext cx="2743200" cy="3474720"/>
          </a:xfrm>
          <a:prstGeom prst="rect">
            <a:avLst/>
          </a:prstGeom>
          <a:solidFill>
            <a:srgbClr val="131D30"/>
          </a:solidFill>
          <a:ln w="6350">
            <a:solidFill>
              <a:srgbClr val="00D4FF"/>
            </a:solidFill>
            <a:prstDash val="solid"/>
          </a:ln>
        </p:spPr>
        <p:txBody>
          <a:bodyPr/>
          <a:lstStyle/>
          <a:p>
            <a:endParaRPr lang="en-US"/>
          </a:p>
        </p:txBody>
      </p:sp>
      <p:sp>
        <p:nvSpPr>
          <p:cNvPr id="8" name="Text 6"/>
          <p:cNvSpPr/>
          <p:nvPr/>
        </p:nvSpPr>
        <p:spPr>
          <a:xfrm>
            <a:off x="475488" y="1508760"/>
            <a:ext cx="2514600" cy="256032"/>
          </a:xfrm>
          <a:prstGeom prst="rect">
            <a:avLst/>
          </a:prstGeom>
          <a:noFill/>
          <a:ln/>
        </p:spPr>
        <p:txBody>
          <a:bodyPr wrap="square" lIns="0" tIns="0" rIns="0" bIns="0" rtlCol="0" anchor="ctr"/>
          <a:lstStyle/>
          <a:p>
            <a:pPr marL="0" indent="0">
              <a:buNone/>
            </a:pPr>
            <a:r>
              <a:rPr lang="en-US" sz="900" b="1" dirty="0">
                <a:solidFill>
                  <a:srgbClr val="00D4FF"/>
                </a:solidFill>
                <a:latin typeface="Consolas" pitchFamily="34" charset="0"/>
                <a:ea typeface="Consolas" pitchFamily="34" charset="-122"/>
                <a:cs typeface="Consolas" pitchFamily="34" charset="-120"/>
              </a:rPr>
              <a:t>IDENTIFIED</a:t>
            </a:r>
            <a:endParaRPr lang="en-US" sz="900" dirty="0"/>
          </a:p>
        </p:txBody>
      </p:sp>
      <p:sp>
        <p:nvSpPr>
          <p:cNvPr id="9" name="Shape 7"/>
          <p:cNvSpPr/>
          <p:nvPr/>
        </p:nvSpPr>
        <p:spPr>
          <a:xfrm>
            <a:off x="475488" y="1764792"/>
            <a:ext cx="2514600" cy="18288"/>
          </a:xfrm>
          <a:prstGeom prst="rect">
            <a:avLst/>
          </a:prstGeom>
          <a:solidFill>
            <a:srgbClr val="00D4FF"/>
          </a:solidFill>
          <a:ln w="12700">
            <a:solidFill>
              <a:srgbClr val="00D4FF"/>
            </a:solidFill>
            <a:prstDash val="solid"/>
          </a:ln>
        </p:spPr>
        <p:txBody>
          <a:bodyPr/>
          <a:lstStyle/>
          <a:p>
            <a:endParaRPr lang="en-US"/>
          </a:p>
        </p:txBody>
      </p:sp>
      <p:sp>
        <p:nvSpPr>
          <p:cNvPr id="10" name="Text 8"/>
          <p:cNvSpPr/>
          <p:nvPr/>
        </p:nvSpPr>
        <p:spPr>
          <a:xfrm>
            <a:off x="475488" y="1828800"/>
            <a:ext cx="2514600" cy="2926080"/>
          </a:xfrm>
          <a:prstGeom prst="rect">
            <a:avLst/>
          </a:prstGeom>
          <a:noFill/>
          <a:ln/>
        </p:spPr>
        <p:txBody>
          <a:bodyPr wrap="square" lIns="0" tIns="0" rIns="0" bIns="0" rtlCol="0" anchor="t"/>
          <a:lstStyle/>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  Users: owner, outlet manager, staff</a:t>
            </a:r>
            <a:endParaRPr lang="en-US" sz="1050" dirty="0"/>
          </a:p>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  Entities: Restaurant, Location, User,</a:t>
            </a:r>
            <a:endParaRPr lang="en-US" sz="1050" dirty="0"/>
          </a:p>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Shift, ShiftAssignment, SwapRequest,</a:t>
            </a:r>
            <a:endParaRPr lang="en-US" sz="1050" dirty="0"/>
          </a:p>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Notification, Availability</a:t>
            </a:r>
            <a:endParaRPr lang="en-US" sz="1050" dirty="0"/>
          </a:p>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  API flows: create shift, assign staff,</a:t>
            </a:r>
            <a:endParaRPr lang="en-US" sz="1050" dirty="0"/>
          </a:p>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claim open shift, request swap,</a:t>
            </a:r>
            <a:endParaRPr lang="en-US" sz="1050" dirty="0"/>
          </a:p>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approve swap, trigger reminder</a:t>
            </a:r>
            <a:endParaRPr lang="en-US" sz="1050" dirty="0"/>
          </a:p>
        </p:txBody>
      </p:sp>
      <p:sp>
        <p:nvSpPr>
          <p:cNvPr id="11" name="Shape 9"/>
          <p:cNvSpPr/>
          <p:nvPr/>
        </p:nvSpPr>
        <p:spPr>
          <a:xfrm>
            <a:off x="3291840" y="1417320"/>
            <a:ext cx="2743200" cy="3474720"/>
          </a:xfrm>
          <a:prstGeom prst="rect">
            <a:avLst/>
          </a:prstGeom>
          <a:solidFill>
            <a:srgbClr val="131D30"/>
          </a:solidFill>
          <a:ln w="6350">
            <a:solidFill>
              <a:srgbClr val="00E5A0"/>
            </a:solidFill>
            <a:prstDash val="solid"/>
          </a:ln>
        </p:spPr>
        <p:txBody>
          <a:bodyPr/>
          <a:lstStyle/>
          <a:p>
            <a:endParaRPr lang="en-US"/>
          </a:p>
        </p:txBody>
      </p:sp>
      <p:sp>
        <p:nvSpPr>
          <p:cNvPr id="12" name="Text 10"/>
          <p:cNvSpPr/>
          <p:nvPr/>
        </p:nvSpPr>
        <p:spPr>
          <a:xfrm>
            <a:off x="3401568" y="1508760"/>
            <a:ext cx="2514600" cy="256032"/>
          </a:xfrm>
          <a:prstGeom prst="rect">
            <a:avLst/>
          </a:prstGeom>
          <a:noFill/>
          <a:ln/>
        </p:spPr>
        <p:txBody>
          <a:bodyPr wrap="square" lIns="0" tIns="0" rIns="0" bIns="0" rtlCol="0" anchor="ctr"/>
          <a:lstStyle/>
          <a:p>
            <a:pPr marL="0" indent="0">
              <a:buNone/>
            </a:pPr>
            <a:r>
              <a:rPr lang="en-US" sz="900" b="1" dirty="0">
                <a:solidFill>
                  <a:srgbClr val="00E5A0"/>
                </a:solidFill>
                <a:latin typeface="Consolas" pitchFamily="34" charset="0"/>
                <a:ea typeface="Consolas" pitchFamily="34" charset="-122"/>
                <a:cs typeface="Consolas" pitchFamily="34" charset="-120"/>
              </a:rPr>
              <a:t>WEEK-1 TASKS</a:t>
            </a:r>
            <a:endParaRPr lang="en-US" sz="900" dirty="0"/>
          </a:p>
        </p:txBody>
      </p:sp>
      <p:sp>
        <p:nvSpPr>
          <p:cNvPr id="13" name="Shape 11"/>
          <p:cNvSpPr/>
          <p:nvPr/>
        </p:nvSpPr>
        <p:spPr>
          <a:xfrm>
            <a:off x="3401568" y="1764792"/>
            <a:ext cx="2514600" cy="18288"/>
          </a:xfrm>
          <a:prstGeom prst="rect">
            <a:avLst/>
          </a:prstGeom>
          <a:solidFill>
            <a:srgbClr val="00E5A0"/>
          </a:solidFill>
          <a:ln w="12700">
            <a:solidFill>
              <a:srgbClr val="00E5A0"/>
            </a:solidFill>
            <a:prstDash val="solid"/>
          </a:ln>
        </p:spPr>
        <p:txBody>
          <a:bodyPr/>
          <a:lstStyle/>
          <a:p>
            <a:endParaRPr lang="en-US"/>
          </a:p>
        </p:txBody>
      </p:sp>
      <p:sp>
        <p:nvSpPr>
          <p:cNvPr id="14" name="Text 12"/>
          <p:cNvSpPr/>
          <p:nvPr/>
        </p:nvSpPr>
        <p:spPr>
          <a:xfrm>
            <a:off x="3401568" y="1828800"/>
            <a:ext cx="2514600" cy="2926080"/>
          </a:xfrm>
          <a:prstGeom prst="rect">
            <a:avLst/>
          </a:prstGeom>
          <a:noFill/>
          <a:ln/>
        </p:spPr>
        <p:txBody>
          <a:bodyPr wrap="square" lIns="0" tIns="0" rIns="0" bIns="0" rtlCol="0" anchor="t"/>
          <a:lstStyle/>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  Manager shift creation flow</a:t>
            </a:r>
            <a:endParaRPr lang="en-US" sz="1050" dirty="0"/>
          </a:p>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  Staff shift view</a:t>
            </a:r>
            <a:endParaRPr lang="en-US" sz="1050" dirty="0"/>
          </a:p>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  Swap request and approval flow</a:t>
            </a:r>
            <a:endParaRPr lang="en-US" sz="1050" dirty="0"/>
          </a:p>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  Background reminder job</a:t>
            </a:r>
            <a:endParaRPr lang="en-US" sz="1050" dirty="0"/>
          </a:p>
        </p:txBody>
      </p:sp>
      <p:sp>
        <p:nvSpPr>
          <p:cNvPr id="15" name="Shape 13"/>
          <p:cNvSpPr/>
          <p:nvPr/>
        </p:nvSpPr>
        <p:spPr>
          <a:xfrm>
            <a:off x="6217920" y="1417320"/>
            <a:ext cx="2743200" cy="3474720"/>
          </a:xfrm>
          <a:prstGeom prst="rect">
            <a:avLst/>
          </a:prstGeom>
          <a:solidFill>
            <a:srgbClr val="131D30"/>
          </a:solidFill>
          <a:ln w="6350">
            <a:solidFill>
              <a:srgbClr val="FFB74D"/>
            </a:solidFill>
            <a:prstDash val="solid"/>
          </a:ln>
        </p:spPr>
        <p:txBody>
          <a:bodyPr/>
          <a:lstStyle/>
          <a:p>
            <a:endParaRPr lang="en-US"/>
          </a:p>
        </p:txBody>
      </p:sp>
      <p:sp>
        <p:nvSpPr>
          <p:cNvPr id="16" name="Text 14"/>
          <p:cNvSpPr/>
          <p:nvPr/>
        </p:nvSpPr>
        <p:spPr>
          <a:xfrm>
            <a:off x="6327648" y="1508760"/>
            <a:ext cx="2514600" cy="256032"/>
          </a:xfrm>
          <a:prstGeom prst="rect">
            <a:avLst/>
          </a:prstGeom>
          <a:noFill/>
          <a:ln/>
        </p:spPr>
        <p:txBody>
          <a:bodyPr wrap="square" lIns="0" tIns="0" rIns="0" bIns="0" rtlCol="0" anchor="ctr"/>
          <a:lstStyle/>
          <a:p>
            <a:pPr marL="0" indent="0">
              <a:buNone/>
            </a:pPr>
            <a:r>
              <a:rPr lang="en-US" sz="900" b="1" dirty="0">
                <a:solidFill>
                  <a:srgbClr val="FFB74D"/>
                </a:solidFill>
                <a:latin typeface="Consolas" pitchFamily="34" charset="0"/>
                <a:ea typeface="Consolas" pitchFamily="34" charset="-122"/>
                <a:cs typeface="Consolas" pitchFamily="34" charset="-120"/>
              </a:rPr>
              <a:t>DEFERRED (P3)</a:t>
            </a:r>
            <a:endParaRPr lang="en-US" sz="900" dirty="0"/>
          </a:p>
        </p:txBody>
      </p:sp>
      <p:sp>
        <p:nvSpPr>
          <p:cNvPr id="17" name="Shape 15"/>
          <p:cNvSpPr/>
          <p:nvPr/>
        </p:nvSpPr>
        <p:spPr>
          <a:xfrm>
            <a:off x="6327648" y="1764792"/>
            <a:ext cx="2514600" cy="18288"/>
          </a:xfrm>
          <a:prstGeom prst="rect">
            <a:avLst/>
          </a:prstGeom>
          <a:solidFill>
            <a:srgbClr val="FFB74D"/>
          </a:solidFill>
          <a:ln w="12700">
            <a:solidFill>
              <a:srgbClr val="FFB74D"/>
            </a:solidFill>
            <a:prstDash val="solid"/>
          </a:ln>
        </p:spPr>
        <p:txBody>
          <a:bodyPr/>
          <a:lstStyle/>
          <a:p>
            <a:endParaRPr lang="en-US"/>
          </a:p>
        </p:txBody>
      </p:sp>
      <p:sp>
        <p:nvSpPr>
          <p:cNvPr id="18" name="Text 16"/>
          <p:cNvSpPr/>
          <p:nvPr/>
        </p:nvSpPr>
        <p:spPr>
          <a:xfrm>
            <a:off x="6327648" y="1828800"/>
            <a:ext cx="2514600" cy="2926080"/>
          </a:xfrm>
          <a:prstGeom prst="rect">
            <a:avLst/>
          </a:prstGeom>
          <a:noFill/>
          <a:ln/>
        </p:spPr>
        <p:txBody>
          <a:bodyPr wrap="square" lIns="0" tIns="0" rIns="0" bIns="0" rtlCol="0" anchor="t"/>
          <a:lstStyle/>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  Payroll integration</a:t>
            </a:r>
            <a:endParaRPr lang="en-US" sz="1050" dirty="0"/>
          </a:p>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  WhatsApp Business API</a:t>
            </a:r>
            <a:endParaRPr lang="en-US" sz="1050" dirty="0"/>
          </a:p>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  AI scheduling suggestions</a:t>
            </a:r>
            <a:endParaRPr lang="en-US" sz="1050" dirty="0"/>
          </a:p>
          <a:p>
            <a:pPr marL="0" indent="0">
              <a:spcAft>
                <a:spcPts val="600"/>
              </a:spcAft>
              <a:buNone/>
            </a:pPr>
            <a:r>
              <a:rPr lang="en-US" sz="1050" dirty="0">
                <a:solidFill>
                  <a:srgbClr val="F0F4FF"/>
                </a:solidFill>
                <a:latin typeface="Calibri" pitchFamily="34" charset="0"/>
                <a:ea typeface="Calibri" pitchFamily="34" charset="-122"/>
                <a:cs typeface="Calibri" pitchFamily="34" charset="-120"/>
              </a:rPr>
              <a:t>→  Clock-in / clock-out</a:t>
            </a:r>
            <a:endParaRPr lang="en-US" sz="1050" dirty="0"/>
          </a:p>
        </p:txBody>
      </p:sp>
      <p:sp>
        <p:nvSpPr>
          <p:cNvPr id="19" name="Text 17"/>
          <p:cNvSpPr/>
          <p:nvPr/>
        </p:nvSpPr>
        <p:spPr>
          <a:xfrm>
            <a:off x="365760" y="4846320"/>
            <a:ext cx="8412480" cy="201168"/>
          </a:xfrm>
          <a:prstGeom prst="rect">
            <a:avLst/>
          </a:prstGeom>
          <a:noFill/>
          <a:ln/>
        </p:spPr>
        <p:txBody>
          <a:bodyPr wrap="square" lIns="0" tIns="0" rIns="0" bIns="0" rtlCol="0" anchor="ctr"/>
          <a:lstStyle/>
          <a:p>
            <a:pPr marL="0" indent="0">
              <a:buNone/>
            </a:pPr>
            <a:r>
              <a:rPr lang="en-US" sz="950" dirty="0">
                <a:solidFill>
                  <a:srgbClr val="4A5F7A"/>
                </a:solidFill>
                <a:latin typeface="Calibri" pitchFamily="34" charset="0"/>
                <a:ea typeface="Calibri" pitchFamily="34" charset="-122"/>
                <a:cs typeface="Calibri" pitchFamily="34" charset="-120"/>
              </a:rPr>
              <a:t>Generated in under 60 seconds from a 200-word brief.</a:t>
            </a:r>
            <a:endParaRPr lang="en-US" sz="950" dirty="0"/>
          </a:p>
        </p:txBody>
      </p:sp>
      <p:sp>
        <p:nvSpPr>
          <p:cNvPr id="20" name="Text 18"/>
          <p:cNvSpPr/>
          <p:nvPr/>
        </p:nvSpPr>
        <p:spPr>
          <a:xfrm>
            <a:off x="8412480" y="4754880"/>
            <a:ext cx="640080" cy="274320"/>
          </a:xfrm>
          <a:prstGeom prst="rect">
            <a:avLst/>
          </a:prstGeom>
          <a:noFill/>
          <a:ln/>
        </p:spPr>
        <p:txBody>
          <a:bodyPr wrap="square" rtlCol="0" anchor="ctr"/>
          <a:lstStyle/>
          <a:p>
            <a:pPr marL="0" indent="0" algn="r">
              <a:buNone/>
            </a:pPr>
            <a:r>
              <a:rPr lang="en-US" sz="900" dirty="0">
                <a:solidFill>
                  <a:srgbClr val="4A5F7A"/>
                </a:solidFill>
                <a:latin typeface="Consolas" pitchFamily="34" charset="0"/>
                <a:ea typeface="Consolas" pitchFamily="34" charset="-122"/>
                <a:cs typeface="Consolas"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365760" y="256032"/>
            <a:ext cx="1005840" cy="256032"/>
          </a:xfrm>
          <a:prstGeom prst="roundRect">
            <a:avLst/>
          </a:prstGeom>
          <a:solidFill>
            <a:srgbClr val="FFB74D">
              <a:alpha val="20000"/>
            </a:srgbClr>
          </a:solidFill>
          <a:ln w="6350">
            <a:solidFill>
              <a:srgbClr val="FFB74D"/>
            </a:solidFill>
            <a:prstDash val="solid"/>
          </a:ln>
        </p:spPr>
        <p:txBody>
          <a:bodyPr/>
          <a:lstStyle/>
          <a:p>
            <a:endParaRPr lang="en-US"/>
          </a:p>
        </p:txBody>
      </p:sp>
      <p:sp>
        <p:nvSpPr>
          <p:cNvPr id="3" name="Text 1"/>
          <p:cNvSpPr/>
          <p:nvPr/>
        </p:nvSpPr>
        <p:spPr>
          <a:xfrm>
            <a:off x="365760" y="228600"/>
            <a:ext cx="1005840" cy="274320"/>
          </a:xfrm>
          <a:prstGeom prst="rect">
            <a:avLst/>
          </a:prstGeom>
          <a:noFill/>
          <a:ln/>
        </p:spPr>
        <p:txBody>
          <a:bodyPr wrap="square" lIns="0" tIns="0" rIns="0" bIns="0" rtlCol="0" anchor="ctr"/>
          <a:lstStyle/>
          <a:p>
            <a:pPr marL="0" indent="0" algn="ctr">
              <a:buNone/>
            </a:pPr>
            <a:r>
              <a:rPr lang="en-US" sz="800" b="1" dirty="0">
                <a:solidFill>
                  <a:srgbClr val="FFB74D"/>
                </a:solidFill>
                <a:latin typeface="Consolas" pitchFamily="34" charset="0"/>
                <a:ea typeface="Consolas" pitchFamily="34" charset="-122"/>
                <a:cs typeface="Consolas" pitchFamily="34" charset="-120"/>
              </a:rPr>
              <a:t>DEMO</a:t>
            </a:r>
            <a:endParaRPr lang="en-US" sz="800" dirty="0"/>
          </a:p>
        </p:txBody>
      </p:sp>
      <p:sp>
        <p:nvSpPr>
          <p:cNvPr id="4" name="Text 2"/>
          <p:cNvSpPr/>
          <p:nvPr/>
        </p:nvSpPr>
        <p:spPr>
          <a:xfrm>
            <a:off x="365760" y="594360"/>
            <a:ext cx="8412480" cy="548640"/>
          </a:xfrm>
          <a:prstGeom prst="rect">
            <a:avLst/>
          </a:prstGeom>
          <a:noFill/>
          <a:ln/>
        </p:spPr>
        <p:txBody>
          <a:bodyPr wrap="square" lIns="0" tIns="0" rIns="0" bIns="0" rtlCol="0" anchor="ctr"/>
          <a:lstStyle/>
          <a:p>
            <a:pPr marL="0" indent="0">
              <a:buNone/>
            </a:pPr>
            <a:r>
              <a:rPr lang="en-US" sz="2600" b="1" dirty="0">
                <a:solidFill>
                  <a:srgbClr val="F0F4FF"/>
                </a:solidFill>
                <a:latin typeface="Calibri" pitchFamily="34" charset="0"/>
                <a:ea typeface="Calibri" pitchFamily="34" charset="-122"/>
                <a:cs typeface="Calibri" pitchFamily="34" charset="-120"/>
              </a:rPr>
              <a:t>Live Demo</a:t>
            </a:r>
            <a:endParaRPr lang="en-US" sz="2600" dirty="0"/>
          </a:p>
        </p:txBody>
      </p:sp>
      <p:sp>
        <p:nvSpPr>
          <p:cNvPr id="5" name="Text 3"/>
          <p:cNvSpPr/>
          <p:nvPr/>
        </p:nvSpPr>
        <p:spPr>
          <a:xfrm>
            <a:off x="365760" y="1097280"/>
            <a:ext cx="8412480" cy="320040"/>
          </a:xfrm>
          <a:prstGeom prst="rect">
            <a:avLst/>
          </a:prstGeom>
          <a:noFill/>
          <a:ln/>
        </p:spPr>
        <p:txBody>
          <a:bodyPr wrap="square" lIns="0" tIns="0" rIns="0" bIns="0" rtlCol="0" anchor="ctr"/>
          <a:lstStyle/>
          <a:p>
            <a:pPr marL="0" indent="0">
              <a:buNone/>
            </a:pPr>
            <a:r>
              <a:rPr lang="en-US" sz="1200" dirty="0">
                <a:solidFill>
                  <a:srgbClr val="7A8FAD"/>
                </a:solidFill>
                <a:latin typeface="Calibri" pitchFamily="34" charset="0"/>
                <a:ea typeface="Calibri" pitchFamily="34" charset="-122"/>
                <a:cs typeface="Calibri" pitchFamily="34" charset="-120"/>
              </a:rPr>
              <a:t>Switch to browser — Streamlit app + Notion workspace</a:t>
            </a:r>
            <a:endParaRPr lang="en-US" sz="1200" dirty="0"/>
          </a:p>
        </p:txBody>
      </p:sp>
      <p:sp>
        <p:nvSpPr>
          <p:cNvPr id="6" name="Shape 4"/>
          <p:cNvSpPr/>
          <p:nvPr/>
        </p:nvSpPr>
        <p:spPr>
          <a:xfrm>
            <a:off x="365760" y="1087125"/>
            <a:ext cx="548640" cy="36576"/>
          </a:xfrm>
          <a:prstGeom prst="rect">
            <a:avLst/>
          </a:prstGeom>
          <a:solidFill>
            <a:srgbClr val="00D4FF"/>
          </a:solidFill>
          <a:ln w="12700">
            <a:solidFill>
              <a:srgbClr val="00D4FF"/>
            </a:solidFill>
            <a:prstDash val="solid"/>
          </a:ln>
        </p:spPr>
        <p:txBody>
          <a:bodyPr/>
          <a:lstStyle/>
          <a:p>
            <a:endParaRPr lang="en-US"/>
          </a:p>
        </p:txBody>
      </p:sp>
      <p:sp>
        <p:nvSpPr>
          <p:cNvPr id="7" name="Shape 5"/>
          <p:cNvSpPr/>
          <p:nvPr/>
        </p:nvSpPr>
        <p:spPr>
          <a:xfrm>
            <a:off x="365760" y="1417320"/>
            <a:ext cx="8412480" cy="475488"/>
          </a:xfrm>
          <a:prstGeom prst="rect">
            <a:avLst/>
          </a:prstGeom>
          <a:solidFill>
            <a:srgbClr val="131D30"/>
          </a:solidFill>
          <a:ln w="6350">
            <a:solidFill>
              <a:srgbClr val="00D4FF"/>
            </a:solidFill>
            <a:prstDash val="solid"/>
          </a:ln>
        </p:spPr>
        <p:txBody>
          <a:bodyPr/>
          <a:lstStyle/>
          <a:p>
            <a:endParaRPr lang="en-US"/>
          </a:p>
        </p:txBody>
      </p:sp>
      <p:sp>
        <p:nvSpPr>
          <p:cNvPr id="8" name="Shape 6"/>
          <p:cNvSpPr/>
          <p:nvPr/>
        </p:nvSpPr>
        <p:spPr>
          <a:xfrm>
            <a:off x="365760" y="1417320"/>
            <a:ext cx="365760" cy="475488"/>
          </a:xfrm>
          <a:prstGeom prst="rect">
            <a:avLst/>
          </a:prstGeom>
          <a:solidFill>
            <a:srgbClr val="00D4FF">
              <a:alpha val="30000"/>
            </a:srgbClr>
          </a:solidFill>
          <a:ln w="12700">
            <a:solidFill>
              <a:srgbClr val="00D4FF"/>
            </a:solidFill>
            <a:prstDash val="solid"/>
          </a:ln>
        </p:spPr>
        <p:txBody>
          <a:bodyPr/>
          <a:lstStyle/>
          <a:p>
            <a:endParaRPr lang="en-US"/>
          </a:p>
        </p:txBody>
      </p:sp>
      <p:sp>
        <p:nvSpPr>
          <p:cNvPr id="9" name="Text 7"/>
          <p:cNvSpPr/>
          <p:nvPr/>
        </p:nvSpPr>
        <p:spPr>
          <a:xfrm>
            <a:off x="365760" y="1417320"/>
            <a:ext cx="365760" cy="475488"/>
          </a:xfrm>
          <a:prstGeom prst="rect">
            <a:avLst/>
          </a:prstGeom>
          <a:noFill/>
          <a:ln/>
        </p:spPr>
        <p:txBody>
          <a:bodyPr wrap="square" lIns="0" tIns="0" rIns="0" bIns="0" rtlCol="0" anchor="ctr"/>
          <a:lstStyle/>
          <a:p>
            <a:pPr marL="0" indent="0" algn="ctr">
              <a:buNone/>
            </a:pPr>
            <a:r>
              <a:rPr lang="en-US" sz="1300" b="1" dirty="0">
                <a:solidFill>
                  <a:srgbClr val="00D4FF"/>
                </a:solidFill>
                <a:latin typeface="Consolas" pitchFamily="34" charset="0"/>
                <a:ea typeface="Consolas" pitchFamily="34" charset="-122"/>
                <a:cs typeface="Consolas" pitchFamily="34" charset="-120"/>
              </a:rPr>
              <a:t>1</a:t>
            </a:r>
            <a:endParaRPr lang="en-US" sz="1300" dirty="0"/>
          </a:p>
        </p:txBody>
      </p:sp>
      <p:sp>
        <p:nvSpPr>
          <p:cNvPr id="10" name="Text 8"/>
          <p:cNvSpPr/>
          <p:nvPr/>
        </p:nvSpPr>
        <p:spPr>
          <a:xfrm>
            <a:off x="822960" y="1417320"/>
            <a:ext cx="7863840" cy="475488"/>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Paste founder brief → enter company name → Generate Spec</a:t>
            </a:r>
            <a:endParaRPr lang="en-US" sz="1200" dirty="0"/>
          </a:p>
        </p:txBody>
      </p:sp>
      <p:sp>
        <p:nvSpPr>
          <p:cNvPr id="11" name="Shape 9"/>
          <p:cNvSpPr/>
          <p:nvPr/>
        </p:nvSpPr>
        <p:spPr>
          <a:xfrm>
            <a:off x="365760" y="1984248"/>
            <a:ext cx="8412480" cy="475488"/>
          </a:xfrm>
          <a:prstGeom prst="rect">
            <a:avLst/>
          </a:prstGeom>
          <a:solidFill>
            <a:srgbClr val="131D30"/>
          </a:solidFill>
          <a:ln w="6350">
            <a:solidFill>
              <a:srgbClr val="00D4FF"/>
            </a:solidFill>
            <a:prstDash val="solid"/>
          </a:ln>
        </p:spPr>
        <p:txBody>
          <a:bodyPr/>
          <a:lstStyle/>
          <a:p>
            <a:endParaRPr lang="en-US"/>
          </a:p>
        </p:txBody>
      </p:sp>
      <p:sp>
        <p:nvSpPr>
          <p:cNvPr id="12" name="Shape 10"/>
          <p:cNvSpPr/>
          <p:nvPr/>
        </p:nvSpPr>
        <p:spPr>
          <a:xfrm>
            <a:off x="365760" y="1984248"/>
            <a:ext cx="365760" cy="475488"/>
          </a:xfrm>
          <a:prstGeom prst="rect">
            <a:avLst/>
          </a:prstGeom>
          <a:solidFill>
            <a:srgbClr val="00D4FF">
              <a:alpha val="30000"/>
            </a:srgbClr>
          </a:solidFill>
          <a:ln w="12700">
            <a:solidFill>
              <a:srgbClr val="00D4FF"/>
            </a:solidFill>
            <a:prstDash val="solid"/>
          </a:ln>
        </p:spPr>
        <p:txBody>
          <a:bodyPr/>
          <a:lstStyle/>
          <a:p>
            <a:endParaRPr lang="en-US"/>
          </a:p>
        </p:txBody>
      </p:sp>
      <p:sp>
        <p:nvSpPr>
          <p:cNvPr id="13" name="Text 11"/>
          <p:cNvSpPr/>
          <p:nvPr/>
        </p:nvSpPr>
        <p:spPr>
          <a:xfrm>
            <a:off x="365760" y="1984248"/>
            <a:ext cx="365760" cy="475488"/>
          </a:xfrm>
          <a:prstGeom prst="rect">
            <a:avLst/>
          </a:prstGeom>
          <a:noFill/>
          <a:ln/>
        </p:spPr>
        <p:txBody>
          <a:bodyPr wrap="square" lIns="0" tIns="0" rIns="0" bIns="0" rtlCol="0" anchor="ctr"/>
          <a:lstStyle/>
          <a:p>
            <a:pPr marL="0" indent="0" algn="ctr">
              <a:buNone/>
            </a:pPr>
            <a:r>
              <a:rPr lang="en-US" sz="1300" b="1" dirty="0">
                <a:solidFill>
                  <a:srgbClr val="00D4FF"/>
                </a:solidFill>
                <a:latin typeface="Consolas" pitchFamily="34" charset="0"/>
                <a:ea typeface="Consolas" pitchFamily="34" charset="-122"/>
                <a:cs typeface="Consolas" pitchFamily="34" charset="-120"/>
              </a:rPr>
              <a:t>2</a:t>
            </a:r>
            <a:endParaRPr lang="en-US" sz="1300" dirty="0"/>
          </a:p>
        </p:txBody>
      </p:sp>
      <p:sp>
        <p:nvSpPr>
          <p:cNvPr id="14" name="Text 12"/>
          <p:cNvSpPr/>
          <p:nvPr/>
        </p:nvSpPr>
        <p:spPr>
          <a:xfrm>
            <a:off x="822960" y="1984248"/>
            <a:ext cx="7863840" cy="475488"/>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Show extraction: domain, users, actions - nothing invented</a:t>
            </a:r>
            <a:endParaRPr lang="en-US" sz="1200" dirty="0"/>
          </a:p>
        </p:txBody>
      </p:sp>
      <p:sp>
        <p:nvSpPr>
          <p:cNvPr id="15" name="Shape 13"/>
          <p:cNvSpPr/>
          <p:nvPr/>
        </p:nvSpPr>
        <p:spPr>
          <a:xfrm>
            <a:off x="365760" y="2551176"/>
            <a:ext cx="8412480" cy="475488"/>
          </a:xfrm>
          <a:prstGeom prst="rect">
            <a:avLst/>
          </a:prstGeom>
          <a:solidFill>
            <a:srgbClr val="131D30"/>
          </a:solidFill>
          <a:ln w="6350">
            <a:solidFill>
              <a:srgbClr val="00E5A0"/>
            </a:solidFill>
            <a:prstDash val="solid"/>
          </a:ln>
        </p:spPr>
        <p:txBody>
          <a:bodyPr/>
          <a:lstStyle/>
          <a:p>
            <a:endParaRPr lang="en-US"/>
          </a:p>
        </p:txBody>
      </p:sp>
      <p:sp>
        <p:nvSpPr>
          <p:cNvPr id="16" name="Shape 14"/>
          <p:cNvSpPr/>
          <p:nvPr/>
        </p:nvSpPr>
        <p:spPr>
          <a:xfrm>
            <a:off x="365760" y="2551176"/>
            <a:ext cx="365760" cy="475488"/>
          </a:xfrm>
          <a:prstGeom prst="rect">
            <a:avLst/>
          </a:prstGeom>
          <a:solidFill>
            <a:srgbClr val="00E5A0">
              <a:alpha val="30000"/>
            </a:srgbClr>
          </a:solidFill>
          <a:ln w="12700">
            <a:solidFill>
              <a:srgbClr val="00E5A0"/>
            </a:solidFill>
            <a:prstDash val="solid"/>
          </a:ln>
        </p:spPr>
        <p:txBody>
          <a:bodyPr/>
          <a:lstStyle/>
          <a:p>
            <a:endParaRPr lang="en-US"/>
          </a:p>
        </p:txBody>
      </p:sp>
      <p:sp>
        <p:nvSpPr>
          <p:cNvPr id="17" name="Text 15"/>
          <p:cNvSpPr/>
          <p:nvPr/>
        </p:nvSpPr>
        <p:spPr>
          <a:xfrm>
            <a:off x="365760" y="2551176"/>
            <a:ext cx="365760" cy="475488"/>
          </a:xfrm>
          <a:prstGeom prst="rect">
            <a:avLst/>
          </a:prstGeom>
          <a:noFill/>
          <a:ln/>
        </p:spPr>
        <p:txBody>
          <a:bodyPr wrap="square" lIns="0" tIns="0" rIns="0" bIns="0" rtlCol="0" anchor="ctr"/>
          <a:lstStyle/>
          <a:p>
            <a:pPr marL="0" indent="0" algn="ctr">
              <a:buNone/>
            </a:pPr>
            <a:r>
              <a:rPr lang="en-US" sz="1300" b="1" dirty="0">
                <a:solidFill>
                  <a:srgbClr val="00E5A0"/>
                </a:solidFill>
                <a:latin typeface="Consolas" pitchFamily="34" charset="0"/>
                <a:ea typeface="Consolas" pitchFamily="34" charset="-122"/>
                <a:cs typeface="Consolas" pitchFamily="34" charset="-120"/>
              </a:rPr>
              <a:t>3</a:t>
            </a:r>
            <a:endParaRPr lang="en-US" sz="1300" dirty="0"/>
          </a:p>
        </p:txBody>
      </p:sp>
      <p:sp>
        <p:nvSpPr>
          <p:cNvPr id="18" name="Text 16"/>
          <p:cNvSpPr/>
          <p:nvPr/>
        </p:nvSpPr>
        <p:spPr>
          <a:xfrm>
            <a:off x="822960" y="2551176"/>
            <a:ext cx="7863840" cy="475488"/>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Show data model tab - SQL code blocks, entities from brief</a:t>
            </a:r>
            <a:endParaRPr lang="en-US" sz="1200" dirty="0"/>
          </a:p>
        </p:txBody>
      </p:sp>
      <p:sp>
        <p:nvSpPr>
          <p:cNvPr id="19" name="Shape 17"/>
          <p:cNvSpPr/>
          <p:nvPr/>
        </p:nvSpPr>
        <p:spPr>
          <a:xfrm>
            <a:off x="365760" y="3118104"/>
            <a:ext cx="8412480" cy="475488"/>
          </a:xfrm>
          <a:prstGeom prst="rect">
            <a:avLst/>
          </a:prstGeom>
          <a:solidFill>
            <a:srgbClr val="131D30"/>
          </a:solidFill>
          <a:ln w="6350">
            <a:solidFill>
              <a:srgbClr val="00E5A0"/>
            </a:solidFill>
            <a:prstDash val="solid"/>
          </a:ln>
        </p:spPr>
        <p:txBody>
          <a:bodyPr/>
          <a:lstStyle/>
          <a:p>
            <a:endParaRPr lang="en-US"/>
          </a:p>
        </p:txBody>
      </p:sp>
      <p:sp>
        <p:nvSpPr>
          <p:cNvPr id="20" name="Shape 18"/>
          <p:cNvSpPr/>
          <p:nvPr/>
        </p:nvSpPr>
        <p:spPr>
          <a:xfrm>
            <a:off x="365760" y="3118104"/>
            <a:ext cx="365760" cy="475488"/>
          </a:xfrm>
          <a:prstGeom prst="rect">
            <a:avLst/>
          </a:prstGeom>
          <a:solidFill>
            <a:srgbClr val="00E5A0">
              <a:alpha val="30000"/>
            </a:srgbClr>
          </a:solidFill>
          <a:ln w="12700">
            <a:solidFill>
              <a:srgbClr val="00E5A0"/>
            </a:solidFill>
            <a:prstDash val="solid"/>
          </a:ln>
        </p:spPr>
        <p:txBody>
          <a:bodyPr/>
          <a:lstStyle/>
          <a:p>
            <a:endParaRPr lang="en-US"/>
          </a:p>
        </p:txBody>
      </p:sp>
      <p:sp>
        <p:nvSpPr>
          <p:cNvPr id="21" name="Text 19"/>
          <p:cNvSpPr/>
          <p:nvPr/>
        </p:nvSpPr>
        <p:spPr>
          <a:xfrm>
            <a:off x="365760" y="3118104"/>
            <a:ext cx="365760" cy="475488"/>
          </a:xfrm>
          <a:prstGeom prst="rect">
            <a:avLst/>
          </a:prstGeom>
          <a:noFill/>
          <a:ln/>
        </p:spPr>
        <p:txBody>
          <a:bodyPr wrap="square" lIns="0" tIns="0" rIns="0" bIns="0" rtlCol="0" anchor="ctr"/>
          <a:lstStyle/>
          <a:p>
            <a:pPr marL="0" indent="0" algn="ctr">
              <a:buNone/>
            </a:pPr>
            <a:r>
              <a:rPr lang="en-US" sz="1300" b="1" dirty="0">
                <a:solidFill>
                  <a:srgbClr val="00E5A0"/>
                </a:solidFill>
                <a:latin typeface="Consolas" pitchFamily="34" charset="0"/>
                <a:ea typeface="Consolas" pitchFamily="34" charset="-122"/>
                <a:cs typeface="Consolas" pitchFamily="34" charset="-120"/>
              </a:rPr>
              <a:t>4</a:t>
            </a:r>
            <a:endParaRPr lang="en-US" sz="1300" dirty="0"/>
          </a:p>
        </p:txBody>
      </p:sp>
      <p:sp>
        <p:nvSpPr>
          <p:cNvPr id="22" name="Text 20"/>
          <p:cNvSpPr/>
          <p:nvPr/>
        </p:nvSpPr>
        <p:spPr>
          <a:xfrm>
            <a:off x="822960" y="3118104"/>
            <a:ext cx="7863840" cy="475488"/>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Show open questions - things I would have assumed wrong on day one</a:t>
            </a:r>
            <a:endParaRPr lang="en-US" sz="1200" dirty="0"/>
          </a:p>
        </p:txBody>
      </p:sp>
      <p:sp>
        <p:nvSpPr>
          <p:cNvPr id="23" name="Shape 21"/>
          <p:cNvSpPr/>
          <p:nvPr/>
        </p:nvSpPr>
        <p:spPr>
          <a:xfrm>
            <a:off x="365760" y="3685032"/>
            <a:ext cx="8412480" cy="475488"/>
          </a:xfrm>
          <a:prstGeom prst="rect">
            <a:avLst/>
          </a:prstGeom>
          <a:solidFill>
            <a:srgbClr val="131D30"/>
          </a:solidFill>
          <a:ln w="6350">
            <a:solidFill>
              <a:srgbClr val="FFB74D"/>
            </a:solidFill>
            <a:prstDash val="solid"/>
          </a:ln>
        </p:spPr>
        <p:txBody>
          <a:bodyPr/>
          <a:lstStyle/>
          <a:p>
            <a:endParaRPr lang="en-US"/>
          </a:p>
        </p:txBody>
      </p:sp>
      <p:sp>
        <p:nvSpPr>
          <p:cNvPr id="24" name="Shape 22"/>
          <p:cNvSpPr/>
          <p:nvPr/>
        </p:nvSpPr>
        <p:spPr>
          <a:xfrm>
            <a:off x="365760" y="3685032"/>
            <a:ext cx="365760" cy="475488"/>
          </a:xfrm>
          <a:prstGeom prst="rect">
            <a:avLst/>
          </a:prstGeom>
          <a:solidFill>
            <a:srgbClr val="FFB74D">
              <a:alpha val="30000"/>
            </a:srgbClr>
          </a:solidFill>
          <a:ln w="12700">
            <a:solidFill>
              <a:srgbClr val="FFB74D"/>
            </a:solidFill>
            <a:prstDash val="solid"/>
          </a:ln>
        </p:spPr>
        <p:txBody>
          <a:bodyPr/>
          <a:lstStyle/>
          <a:p>
            <a:endParaRPr lang="en-US"/>
          </a:p>
        </p:txBody>
      </p:sp>
      <p:sp>
        <p:nvSpPr>
          <p:cNvPr id="25" name="Text 23"/>
          <p:cNvSpPr/>
          <p:nvPr/>
        </p:nvSpPr>
        <p:spPr>
          <a:xfrm>
            <a:off x="365760" y="3685032"/>
            <a:ext cx="365760" cy="475488"/>
          </a:xfrm>
          <a:prstGeom prst="rect">
            <a:avLst/>
          </a:prstGeom>
          <a:noFill/>
          <a:ln/>
        </p:spPr>
        <p:txBody>
          <a:bodyPr wrap="square" lIns="0" tIns="0" rIns="0" bIns="0" rtlCol="0" anchor="ctr"/>
          <a:lstStyle/>
          <a:p>
            <a:pPr marL="0" indent="0" algn="ctr">
              <a:buNone/>
            </a:pPr>
            <a:r>
              <a:rPr lang="en-US" sz="1300" b="1" dirty="0">
                <a:solidFill>
                  <a:srgbClr val="FFB74D"/>
                </a:solidFill>
                <a:latin typeface="Consolas" pitchFamily="34" charset="0"/>
                <a:ea typeface="Consolas" pitchFamily="34" charset="-122"/>
                <a:cs typeface="Consolas" pitchFamily="34" charset="-120"/>
              </a:rPr>
              <a:t>5</a:t>
            </a:r>
            <a:endParaRPr lang="en-US" sz="1300" dirty="0"/>
          </a:p>
        </p:txBody>
      </p:sp>
      <p:sp>
        <p:nvSpPr>
          <p:cNvPr id="26" name="Text 24"/>
          <p:cNvSpPr/>
          <p:nvPr/>
        </p:nvSpPr>
        <p:spPr>
          <a:xfrm>
            <a:off x="822960" y="3685032"/>
            <a:ext cx="7863840" cy="475488"/>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Show week-1 tasks - MVP vs deferred clearly separated</a:t>
            </a:r>
            <a:endParaRPr lang="en-US" sz="1200" dirty="0"/>
          </a:p>
        </p:txBody>
      </p:sp>
      <p:sp>
        <p:nvSpPr>
          <p:cNvPr id="27" name="Shape 25"/>
          <p:cNvSpPr/>
          <p:nvPr/>
        </p:nvSpPr>
        <p:spPr>
          <a:xfrm>
            <a:off x="365760" y="4251960"/>
            <a:ext cx="8412480" cy="475488"/>
          </a:xfrm>
          <a:prstGeom prst="rect">
            <a:avLst/>
          </a:prstGeom>
          <a:solidFill>
            <a:srgbClr val="131D30"/>
          </a:solidFill>
          <a:ln w="6350">
            <a:solidFill>
              <a:srgbClr val="FFB74D"/>
            </a:solidFill>
            <a:prstDash val="solid"/>
          </a:ln>
        </p:spPr>
        <p:txBody>
          <a:bodyPr/>
          <a:lstStyle/>
          <a:p>
            <a:endParaRPr lang="en-US"/>
          </a:p>
        </p:txBody>
      </p:sp>
      <p:sp>
        <p:nvSpPr>
          <p:cNvPr id="28" name="Shape 26"/>
          <p:cNvSpPr/>
          <p:nvPr/>
        </p:nvSpPr>
        <p:spPr>
          <a:xfrm>
            <a:off x="365760" y="4251960"/>
            <a:ext cx="365760" cy="475488"/>
          </a:xfrm>
          <a:prstGeom prst="rect">
            <a:avLst/>
          </a:prstGeom>
          <a:solidFill>
            <a:srgbClr val="FFB74D">
              <a:alpha val="30000"/>
            </a:srgbClr>
          </a:solidFill>
          <a:ln w="12700">
            <a:solidFill>
              <a:srgbClr val="FFB74D"/>
            </a:solidFill>
            <a:prstDash val="solid"/>
          </a:ln>
        </p:spPr>
        <p:txBody>
          <a:bodyPr/>
          <a:lstStyle/>
          <a:p>
            <a:endParaRPr lang="en-US"/>
          </a:p>
        </p:txBody>
      </p:sp>
      <p:sp>
        <p:nvSpPr>
          <p:cNvPr id="29" name="Text 27"/>
          <p:cNvSpPr/>
          <p:nvPr/>
        </p:nvSpPr>
        <p:spPr>
          <a:xfrm>
            <a:off x="365760" y="4251960"/>
            <a:ext cx="365760" cy="475488"/>
          </a:xfrm>
          <a:prstGeom prst="rect">
            <a:avLst/>
          </a:prstGeom>
          <a:noFill/>
          <a:ln/>
        </p:spPr>
        <p:txBody>
          <a:bodyPr wrap="square" lIns="0" tIns="0" rIns="0" bIns="0" rtlCol="0" anchor="ctr"/>
          <a:lstStyle/>
          <a:p>
            <a:pPr marL="0" indent="0" algn="ctr">
              <a:buNone/>
            </a:pPr>
            <a:r>
              <a:rPr lang="en-US" sz="1300" b="1" dirty="0">
                <a:solidFill>
                  <a:srgbClr val="FFB74D"/>
                </a:solidFill>
                <a:latin typeface="Consolas" pitchFamily="34" charset="0"/>
                <a:ea typeface="Consolas" pitchFamily="34" charset="-122"/>
                <a:cs typeface="Consolas" pitchFamily="34" charset="-120"/>
              </a:rPr>
              <a:t>6</a:t>
            </a:r>
            <a:endParaRPr lang="en-US" sz="1300" dirty="0"/>
          </a:p>
        </p:txBody>
      </p:sp>
      <p:sp>
        <p:nvSpPr>
          <p:cNvPr id="30" name="Text 28"/>
          <p:cNvSpPr/>
          <p:nvPr/>
        </p:nvSpPr>
        <p:spPr>
          <a:xfrm>
            <a:off x="822960" y="4251960"/>
            <a:ext cx="7863840" cy="475488"/>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Send to Notion → show company, projects, 4 note pages</a:t>
            </a:r>
            <a:endParaRPr lang="en-US" sz="1200" dirty="0"/>
          </a:p>
        </p:txBody>
      </p:sp>
      <p:sp>
        <p:nvSpPr>
          <p:cNvPr id="32" name="Text 30"/>
          <p:cNvSpPr/>
          <p:nvPr/>
        </p:nvSpPr>
        <p:spPr>
          <a:xfrm>
            <a:off x="8412480" y="4754880"/>
            <a:ext cx="640080" cy="274320"/>
          </a:xfrm>
          <a:prstGeom prst="rect">
            <a:avLst/>
          </a:prstGeom>
          <a:noFill/>
          <a:ln/>
        </p:spPr>
        <p:txBody>
          <a:bodyPr wrap="square" rtlCol="0" anchor="ctr"/>
          <a:lstStyle/>
          <a:p>
            <a:pPr marL="0" indent="0" algn="r">
              <a:buNone/>
            </a:pPr>
            <a:r>
              <a:rPr lang="en-US" sz="900" dirty="0">
                <a:solidFill>
                  <a:srgbClr val="4A5F7A"/>
                </a:solidFill>
                <a:latin typeface="Consolas" pitchFamily="34" charset="0"/>
                <a:ea typeface="Consolas" pitchFamily="34" charset="-122"/>
                <a:cs typeface="Consolas"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365760" y="256032"/>
            <a:ext cx="1005840" cy="256032"/>
          </a:xfrm>
          <a:prstGeom prst="roundRect">
            <a:avLst/>
          </a:prstGeom>
          <a:solidFill>
            <a:srgbClr val="00E5A0">
              <a:alpha val="20000"/>
            </a:srgbClr>
          </a:solidFill>
          <a:ln w="6350">
            <a:solidFill>
              <a:srgbClr val="00E5A0"/>
            </a:solidFill>
            <a:prstDash val="solid"/>
          </a:ln>
        </p:spPr>
        <p:txBody>
          <a:bodyPr/>
          <a:lstStyle/>
          <a:p>
            <a:endParaRPr lang="en-US"/>
          </a:p>
        </p:txBody>
      </p:sp>
      <p:sp>
        <p:nvSpPr>
          <p:cNvPr id="3" name="Text 1"/>
          <p:cNvSpPr/>
          <p:nvPr/>
        </p:nvSpPr>
        <p:spPr>
          <a:xfrm>
            <a:off x="365760" y="228600"/>
            <a:ext cx="1005840" cy="274320"/>
          </a:xfrm>
          <a:prstGeom prst="rect">
            <a:avLst/>
          </a:prstGeom>
          <a:noFill/>
          <a:ln/>
        </p:spPr>
        <p:txBody>
          <a:bodyPr wrap="square" lIns="0" tIns="0" rIns="0" bIns="0" rtlCol="0" anchor="ctr"/>
          <a:lstStyle/>
          <a:p>
            <a:pPr marL="0" indent="0" algn="ctr">
              <a:buNone/>
            </a:pPr>
            <a:r>
              <a:rPr lang="en-US" sz="800" b="1" dirty="0">
                <a:solidFill>
                  <a:srgbClr val="00E5A0"/>
                </a:solidFill>
                <a:latin typeface="Consolas" pitchFamily="34" charset="0"/>
                <a:ea typeface="Consolas" pitchFamily="34" charset="-122"/>
                <a:cs typeface="Consolas" pitchFamily="34" charset="-120"/>
              </a:rPr>
              <a:t>FEATURE</a:t>
            </a:r>
            <a:endParaRPr lang="en-US" sz="800" dirty="0"/>
          </a:p>
        </p:txBody>
      </p:sp>
      <p:sp>
        <p:nvSpPr>
          <p:cNvPr id="4" name="Text 2"/>
          <p:cNvSpPr/>
          <p:nvPr/>
        </p:nvSpPr>
        <p:spPr>
          <a:xfrm>
            <a:off x="365760" y="594360"/>
            <a:ext cx="8412480" cy="548640"/>
          </a:xfrm>
          <a:prstGeom prst="rect">
            <a:avLst/>
          </a:prstGeom>
          <a:noFill/>
          <a:ln/>
        </p:spPr>
        <p:txBody>
          <a:bodyPr wrap="square" lIns="0" tIns="0" rIns="0" bIns="0" rtlCol="0" anchor="ctr"/>
          <a:lstStyle/>
          <a:p>
            <a:pPr marL="0" indent="0">
              <a:buNone/>
            </a:pPr>
            <a:r>
              <a:rPr lang="en-US" sz="2600" b="1" dirty="0">
                <a:solidFill>
                  <a:srgbClr val="F0F4FF"/>
                </a:solidFill>
                <a:latin typeface="Calibri" pitchFamily="34" charset="0"/>
                <a:ea typeface="Calibri" pitchFamily="34" charset="-122"/>
                <a:cs typeface="Calibri" pitchFamily="34" charset="-120"/>
              </a:rPr>
              <a:t>Context-Aware Notion Sync</a:t>
            </a:r>
            <a:endParaRPr lang="en-US" sz="2600" dirty="0"/>
          </a:p>
        </p:txBody>
      </p:sp>
      <p:sp>
        <p:nvSpPr>
          <p:cNvPr id="5" name="Text 3"/>
          <p:cNvSpPr/>
          <p:nvPr/>
        </p:nvSpPr>
        <p:spPr>
          <a:xfrm>
            <a:off x="365760" y="1097280"/>
            <a:ext cx="8412480" cy="320040"/>
          </a:xfrm>
          <a:prstGeom prst="rect">
            <a:avLst/>
          </a:prstGeom>
          <a:noFill/>
          <a:ln/>
        </p:spPr>
        <p:txBody>
          <a:bodyPr wrap="square" lIns="0" tIns="0" rIns="0" bIns="0" rtlCol="0" anchor="ctr"/>
          <a:lstStyle/>
          <a:p>
            <a:pPr marL="0" indent="0">
              <a:buNone/>
            </a:pPr>
            <a:r>
              <a:rPr lang="en-US" sz="1200" dirty="0">
                <a:solidFill>
                  <a:srgbClr val="7A8FAD"/>
                </a:solidFill>
                <a:latin typeface="Calibri" pitchFamily="34" charset="0"/>
                <a:ea typeface="Calibri" pitchFamily="34" charset="-122"/>
                <a:cs typeface="Calibri" pitchFamily="34" charset="-120"/>
              </a:rPr>
              <a:t>How the Notion integration actually works</a:t>
            </a:r>
            <a:endParaRPr lang="en-US" sz="1200" dirty="0"/>
          </a:p>
        </p:txBody>
      </p:sp>
      <p:sp>
        <p:nvSpPr>
          <p:cNvPr id="6" name="Shape 4"/>
          <p:cNvSpPr/>
          <p:nvPr/>
        </p:nvSpPr>
        <p:spPr>
          <a:xfrm>
            <a:off x="365760" y="1087121"/>
            <a:ext cx="548640" cy="36576"/>
          </a:xfrm>
          <a:prstGeom prst="rect">
            <a:avLst/>
          </a:prstGeom>
          <a:solidFill>
            <a:srgbClr val="00D4FF"/>
          </a:solidFill>
          <a:ln w="12700">
            <a:solidFill>
              <a:srgbClr val="00D4FF"/>
            </a:solidFill>
            <a:prstDash val="solid"/>
          </a:ln>
        </p:spPr>
        <p:txBody>
          <a:bodyPr/>
          <a:lstStyle/>
          <a:p>
            <a:endParaRPr lang="en-US"/>
          </a:p>
        </p:txBody>
      </p:sp>
      <p:sp>
        <p:nvSpPr>
          <p:cNvPr id="7" name="Shape 5"/>
          <p:cNvSpPr/>
          <p:nvPr/>
        </p:nvSpPr>
        <p:spPr>
          <a:xfrm>
            <a:off x="365760" y="1417320"/>
            <a:ext cx="5120640" cy="3383280"/>
          </a:xfrm>
          <a:prstGeom prst="rect">
            <a:avLst/>
          </a:prstGeom>
          <a:solidFill>
            <a:srgbClr val="131D30"/>
          </a:solidFill>
          <a:ln w="6350">
            <a:solidFill>
              <a:srgbClr val="00E5A0"/>
            </a:solidFill>
            <a:prstDash val="solid"/>
          </a:ln>
        </p:spPr>
        <p:txBody>
          <a:bodyPr/>
          <a:lstStyle/>
          <a:p>
            <a:endParaRPr lang="en-US"/>
          </a:p>
        </p:txBody>
      </p:sp>
      <p:sp>
        <p:nvSpPr>
          <p:cNvPr id="8" name="Text 6"/>
          <p:cNvSpPr/>
          <p:nvPr/>
        </p:nvSpPr>
        <p:spPr>
          <a:xfrm>
            <a:off x="502920" y="1508760"/>
            <a:ext cx="4754880" cy="274320"/>
          </a:xfrm>
          <a:prstGeom prst="rect">
            <a:avLst/>
          </a:prstGeom>
          <a:noFill/>
          <a:ln/>
        </p:spPr>
        <p:txBody>
          <a:bodyPr wrap="square" lIns="0" tIns="0" rIns="0" bIns="0" rtlCol="0" anchor="ctr"/>
          <a:lstStyle/>
          <a:p>
            <a:pPr marL="0" indent="0">
              <a:buNone/>
            </a:pPr>
            <a:r>
              <a:rPr lang="en-US" sz="900" b="1" dirty="0">
                <a:solidFill>
                  <a:srgbClr val="00E5A0"/>
                </a:solidFill>
                <a:latin typeface="Consolas" pitchFamily="34" charset="0"/>
                <a:ea typeface="Consolas" pitchFamily="34" charset="-122"/>
                <a:cs typeface="Consolas" pitchFamily="34" charset="-120"/>
              </a:rPr>
              <a:t>WHAT IT CREATES PER RUN</a:t>
            </a:r>
            <a:endParaRPr lang="en-US" sz="900" dirty="0"/>
          </a:p>
        </p:txBody>
      </p:sp>
      <p:sp>
        <p:nvSpPr>
          <p:cNvPr id="9" name="Text 7"/>
          <p:cNvSpPr/>
          <p:nvPr/>
        </p:nvSpPr>
        <p:spPr>
          <a:xfrm>
            <a:off x="502920" y="1828800"/>
            <a:ext cx="4754880" cy="2834640"/>
          </a:xfrm>
          <a:prstGeom prst="rect">
            <a:avLst/>
          </a:prstGeom>
          <a:noFill/>
          <a:ln/>
        </p:spPr>
        <p:txBody>
          <a:bodyPr wrap="square" lIns="0" tIns="0" rIns="0" bIns="0" rtlCol="0" anchor="t"/>
          <a:lstStyle/>
          <a:p>
            <a:pPr marL="0" indent="0">
              <a:spcAft>
                <a:spcPts val="600"/>
              </a:spcAft>
              <a:buNone/>
            </a:pPr>
            <a:r>
              <a:rPr lang="en-US" sz="1200" dirty="0">
                <a:solidFill>
                  <a:srgbClr val="F0F4FF"/>
                </a:solidFill>
                <a:latin typeface="Calibri" pitchFamily="34" charset="0"/>
                <a:ea typeface="Calibri" pitchFamily="34" charset="-122"/>
                <a:cs typeface="Calibri" pitchFamily="34" charset="-120"/>
              </a:rPr>
              <a:t>→  Company (reused if exists)</a:t>
            </a:r>
            <a:endParaRPr lang="en-US" sz="1200" dirty="0"/>
          </a:p>
          <a:p>
            <a:pPr marL="0" indent="0">
              <a:spcAft>
                <a:spcPts val="600"/>
              </a:spcAft>
              <a:buNone/>
            </a:pPr>
            <a:r>
              <a:rPr lang="en-US" sz="1200" dirty="0">
                <a:solidFill>
                  <a:srgbClr val="F0F4FF"/>
                </a:solidFill>
                <a:latin typeface="Calibri" pitchFamily="34" charset="0"/>
                <a:ea typeface="Calibri" pitchFamily="34" charset="-122"/>
                <a:cs typeface="Calibri" pitchFamily="34" charset="-120"/>
              </a:rPr>
              <a:t>→  Projects with P1/P2/P3 priority</a:t>
            </a:r>
            <a:endParaRPr lang="en-US" sz="1200" dirty="0"/>
          </a:p>
          <a:p>
            <a:pPr marL="0" indent="0">
              <a:spcAft>
                <a:spcPts val="600"/>
              </a:spcAft>
              <a:buNone/>
            </a:pPr>
            <a:r>
              <a:rPr lang="en-US" sz="1200" dirty="0">
                <a:solidFill>
                  <a:srgbClr val="F0F4FF"/>
                </a:solidFill>
                <a:latin typeface="Calibri" pitchFamily="34" charset="0"/>
                <a:ea typeface="Calibri" pitchFamily="34" charset="-122"/>
                <a:cs typeface="Calibri" pitchFamily="34" charset="-120"/>
              </a:rPr>
              <a:t>→  Tasks with urgency + importance scores</a:t>
            </a:r>
            <a:endParaRPr lang="en-US" sz="1200" dirty="0"/>
          </a:p>
          <a:p>
            <a:pPr marL="0" indent="0">
              <a:spcAft>
                <a:spcPts val="600"/>
              </a:spcAft>
              <a:buNone/>
            </a:pPr>
            <a:r>
              <a:rPr lang="en-US" sz="1200" dirty="0">
                <a:solidFill>
                  <a:srgbClr val="F0F4FF"/>
                </a:solidFill>
                <a:latin typeface="Calibri" pitchFamily="34" charset="0"/>
                <a:ea typeface="Calibri" pitchFamily="34" charset="-122"/>
                <a:cs typeface="Calibri" pitchFamily="34" charset="-120"/>
              </a:rPr>
              <a:t>→  Meeting summary note</a:t>
            </a:r>
            <a:endParaRPr lang="en-US" sz="1200" dirty="0"/>
          </a:p>
          <a:p>
            <a:pPr marL="0" indent="0">
              <a:spcAft>
                <a:spcPts val="600"/>
              </a:spcAft>
              <a:buNone/>
            </a:pPr>
            <a:r>
              <a:rPr lang="en-US" sz="1200" dirty="0">
                <a:solidFill>
                  <a:srgbClr val="F0F4FF"/>
                </a:solidFill>
                <a:latin typeface="Calibri" pitchFamily="34" charset="0"/>
                <a:ea typeface="Calibri" pitchFamily="34" charset="-122"/>
                <a:cs typeface="Calibri" pitchFamily="34" charset="-120"/>
              </a:rPr>
              <a:t>→  Technical spec note — SQL + JSON code blocks</a:t>
            </a:r>
            <a:endParaRPr lang="en-US" sz="1200" dirty="0"/>
          </a:p>
          <a:p>
            <a:pPr marL="0" indent="0">
              <a:spcAft>
                <a:spcPts val="600"/>
              </a:spcAft>
              <a:buNone/>
            </a:pPr>
            <a:r>
              <a:rPr lang="en-US" sz="1200" dirty="0">
                <a:solidFill>
                  <a:srgbClr val="F0F4FF"/>
                </a:solidFill>
                <a:latin typeface="Calibri" pitchFamily="34" charset="0"/>
                <a:ea typeface="Calibri" pitchFamily="34" charset="-122"/>
                <a:cs typeface="Calibri" pitchFamily="34" charset="-120"/>
              </a:rPr>
              <a:t>→  Production flags note</a:t>
            </a:r>
            <a:endParaRPr lang="en-US" sz="1200" dirty="0"/>
          </a:p>
          <a:p>
            <a:pPr marL="0" indent="0">
              <a:spcAft>
                <a:spcPts val="600"/>
              </a:spcAft>
              <a:buNone/>
            </a:pPr>
            <a:r>
              <a:rPr lang="en-US" sz="1200" dirty="0">
                <a:solidFill>
                  <a:srgbClr val="F0F4FF"/>
                </a:solidFill>
                <a:latin typeface="Calibri" pitchFamily="34" charset="0"/>
                <a:ea typeface="Calibri" pitchFamily="34" charset="-122"/>
                <a:cs typeface="Calibri" pitchFamily="34" charset="-120"/>
              </a:rPr>
              <a:t>→  Open questions note</a:t>
            </a:r>
            <a:endParaRPr lang="en-US" sz="1200" dirty="0"/>
          </a:p>
        </p:txBody>
      </p:sp>
      <p:sp>
        <p:nvSpPr>
          <p:cNvPr id="10" name="Shape 8"/>
          <p:cNvSpPr/>
          <p:nvPr/>
        </p:nvSpPr>
        <p:spPr>
          <a:xfrm>
            <a:off x="5669280" y="1417320"/>
            <a:ext cx="3108960" cy="3383280"/>
          </a:xfrm>
          <a:prstGeom prst="rect">
            <a:avLst/>
          </a:prstGeom>
          <a:solidFill>
            <a:srgbClr val="131D30"/>
          </a:solidFill>
          <a:ln w="6350">
            <a:solidFill>
              <a:srgbClr val="00D4FF"/>
            </a:solidFill>
            <a:prstDash val="solid"/>
          </a:ln>
        </p:spPr>
        <p:txBody>
          <a:bodyPr/>
          <a:lstStyle/>
          <a:p>
            <a:endParaRPr lang="en-US"/>
          </a:p>
        </p:txBody>
      </p:sp>
      <p:sp>
        <p:nvSpPr>
          <p:cNvPr id="11" name="Text 9"/>
          <p:cNvSpPr/>
          <p:nvPr/>
        </p:nvSpPr>
        <p:spPr>
          <a:xfrm>
            <a:off x="5806440" y="1508760"/>
            <a:ext cx="2834640" cy="274320"/>
          </a:xfrm>
          <a:prstGeom prst="rect">
            <a:avLst/>
          </a:prstGeom>
          <a:noFill/>
          <a:ln/>
        </p:spPr>
        <p:txBody>
          <a:bodyPr wrap="square" lIns="0" tIns="0" rIns="0" bIns="0" rtlCol="0" anchor="ctr"/>
          <a:lstStyle/>
          <a:p>
            <a:pPr marL="0" indent="0">
              <a:buNone/>
            </a:pPr>
            <a:r>
              <a:rPr lang="en-US" sz="900" b="1" dirty="0">
                <a:solidFill>
                  <a:srgbClr val="00D4FF"/>
                </a:solidFill>
                <a:latin typeface="Consolas" pitchFamily="34" charset="0"/>
                <a:ea typeface="Consolas" pitchFamily="34" charset="-122"/>
                <a:cs typeface="Consolas" pitchFamily="34" charset="-120"/>
              </a:rPr>
              <a:t>CONTEXT AWARENESS</a:t>
            </a:r>
            <a:endParaRPr lang="en-US" sz="900" dirty="0"/>
          </a:p>
        </p:txBody>
      </p:sp>
      <p:sp>
        <p:nvSpPr>
          <p:cNvPr id="12" name="Text 10"/>
          <p:cNvSpPr/>
          <p:nvPr/>
        </p:nvSpPr>
        <p:spPr>
          <a:xfrm>
            <a:off x="5806440" y="1828800"/>
            <a:ext cx="2834640" cy="2286000"/>
          </a:xfrm>
          <a:prstGeom prst="rect">
            <a:avLst/>
          </a:prstGeom>
          <a:noFill/>
          <a:ln/>
        </p:spPr>
        <p:txBody>
          <a:bodyPr wrap="square" lIns="0" tIns="0" rIns="0" bIns="0" rtlCol="0" anchor="t"/>
          <a:lstStyle/>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Reads workspace before pushing</a:t>
            </a:r>
            <a:endParaRPr lang="en-US" sz="1100" dirty="0"/>
          </a:p>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Reuses existing companies and projects</a:t>
            </a:r>
            <a:endParaRPr lang="en-US" sz="1100" dirty="0"/>
          </a:p>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New tasks land under correct project</a:t>
            </a:r>
            <a:endParaRPr lang="en-US" sz="1100" dirty="0"/>
          </a:p>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Works across multiple briefs without polluting workspace</a:t>
            </a:r>
            <a:endParaRPr lang="en-US" sz="1100" dirty="0"/>
          </a:p>
        </p:txBody>
      </p:sp>
      <p:sp>
        <p:nvSpPr>
          <p:cNvPr id="13" name="Text 11"/>
          <p:cNvSpPr/>
          <p:nvPr/>
        </p:nvSpPr>
        <p:spPr>
          <a:xfrm>
            <a:off x="8412480" y="4754880"/>
            <a:ext cx="640080" cy="274320"/>
          </a:xfrm>
          <a:prstGeom prst="rect">
            <a:avLst/>
          </a:prstGeom>
          <a:noFill/>
          <a:ln/>
        </p:spPr>
        <p:txBody>
          <a:bodyPr wrap="square" rtlCol="0" anchor="ctr"/>
          <a:lstStyle/>
          <a:p>
            <a:pPr marL="0" indent="0" algn="r">
              <a:buNone/>
            </a:pPr>
            <a:r>
              <a:rPr lang="en-US" sz="900" dirty="0">
                <a:solidFill>
                  <a:srgbClr val="4A5F7A"/>
                </a:solidFill>
                <a:latin typeface="Consolas" pitchFamily="34" charset="0"/>
                <a:ea typeface="Consolas" pitchFamily="34" charset="-122"/>
                <a:cs typeface="Consolas"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365760" y="256032"/>
            <a:ext cx="1005840" cy="256032"/>
          </a:xfrm>
          <a:prstGeom prst="roundRect">
            <a:avLst/>
          </a:prstGeom>
          <a:solidFill>
            <a:srgbClr val="FF5252">
              <a:alpha val="20000"/>
            </a:srgbClr>
          </a:solidFill>
          <a:ln w="6350">
            <a:solidFill>
              <a:srgbClr val="FF5252"/>
            </a:solidFill>
            <a:prstDash val="solid"/>
          </a:ln>
        </p:spPr>
        <p:txBody>
          <a:bodyPr/>
          <a:lstStyle/>
          <a:p>
            <a:endParaRPr lang="en-US"/>
          </a:p>
        </p:txBody>
      </p:sp>
      <p:sp>
        <p:nvSpPr>
          <p:cNvPr id="3" name="Text 1"/>
          <p:cNvSpPr/>
          <p:nvPr/>
        </p:nvSpPr>
        <p:spPr>
          <a:xfrm>
            <a:off x="365760" y="228600"/>
            <a:ext cx="1005840" cy="274320"/>
          </a:xfrm>
          <a:prstGeom prst="rect">
            <a:avLst/>
          </a:prstGeom>
          <a:noFill/>
          <a:ln/>
        </p:spPr>
        <p:txBody>
          <a:bodyPr wrap="square" lIns="0" tIns="0" rIns="0" bIns="0" rtlCol="0" anchor="ctr"/>
          <a:lstStyle/>
          <a:p>
            <a:pPr marL="0" indent="0" algn="ctr">
              <a:buNone/>
            </a:pPr>
            <a:r>
              <a:rPr lang="en-US" sz="800" b="1" dirty="0">
                <a:solidFill>
                  <a:srgbClr val="FF5252"/>
                </a:solidFill>
                <a:latin typeface="Consolas" pitchFamily="34" charset="0"/>
                <a:ea typeface="Consolas" pitchFamily="34" charset="-122"/>
                <a:cs typeface="Consolas" pitchFamily="34" charset="-120"/>
              </a:rPr>
              <a:t>LIMITS</a:t>
            </a:r>
            <a:endParaRPr lang="en-US" sz="800" dirty="0"/>
          </a:p>
        </p:txBody>
      </p:sp>
      <p:sp>
        <p:nvSpPr>
          <p:cNvPr id="4" name="Text 2"/>
          <p:cNvSpPr/>
          <p:nvPr/>
        </p:nvSpPr>
        <p:spPr>
          <a:xfrm>
            <a:off x="365760" y="594360"/>
            <a:ext cx="8412480" cy="548640"/>
          </a:xfrm>
          <a:prstGeom prst="rect">
            <a:avLst/>
          </a:prstGeom>
          <a:noFill/>
          <a:ln/>
        </p:spPr>
        <p:txBody>
          <a:bodyPr wrap="square" lIns="0" tIns="0" rIns="0" bIns="0" rtlCol="0" anchor="ctr"/>
          <a:lstStyle/>
          <a:p>
            <a:pPr marL="0" indent="0">
              <a:buNone/>
            </a:pPr>
            <a:r>
              <a:rPr lang="en-US" sz="2600" b="1" dirty="0">
                <a:solidFill>
                  <a:srgbClr val="F0F4FF"/>
                </a:solidFill>
                <a:latin typeface="Calibri" pitchFamily="34" charset="0"/>
                <a:ea typeface="Calibri" pitchFamily="34" charset="-122"/>
                <a:cs typeface="Calibri" pitchFamily="34" charset="-120"/>
              </a:rPr>
              <a:t>What Actually Broke</a:t>
            </a:r>
            <a:endParaRPr lang="en-US" sz="2600" dirty="0"/>
          </a:p>
        </p:txBody>
      </p:sp>
      <p:sp>
        <p:nvSpPr>
          <p:cNvPr id="5" name="Text 3"/>
          <p:cNvSpPr/>
          <p:nvPr/>
        </p:nvSpPr>
        <p:spPr>
          <a:xfrm>
            <a:off x="365760" y="1097280"/>
            <a:ext cx="8412480" cy="320040"/>
          </a:xfrm>
          <a:prstGeom prst="rect">
            <a:avLst/>
          </a:prstGeom>
          <a:noFill/>
          <a:ln/>
        </p:spPr>
        <p:txBody>
          <a:bodyPr wrap="square" lIns="0" tIns="0" rIns="0" bIns="0" rtlCol="0" anchor="ctr"/>
          <a:lstStyle/>
          <a:p>
            <a:pPr marL="0" indent="0">
              <a:buNone/>
            </a:pPr>
            <a:r>
              <a:rPr lang="en-US" sz="1200" dirty="0">
                <a:solidFill>
                  <a:srgbClr val="7A8FAD"/>
                </a:solidFill>
                <a:latin typeface="Calibri" pitchFamily="34" charset="0"/>
                <a:ea typeface="Calibri" pitchFamily="34" charset="-122"/>
                <a:cs typeface="Calibri" pitchFamily="34" charset="-120"/>
              </a:rPr>
              <a:t>5 stress tests.</a:t>
            </a:r>
            <a:endParaRPr lang="en-US" sz="1200" dirty="0"/>
          </a:p>
        </p:txBody>
      </p:sp>
      <p:sp>
        <p:nvSpPr>
          <p:cNvPr id="6" name="Shape 4"/>
          <p:cNvSpPr/>
          <p:nvPr/>
        </p:nvSpPr>
        <p:spPr>
          <a:xfrm>
            <a:off x="365760" y="1102754"/>
            <a:ext cx="548640" cy="36576"/>
          </a:xfrm>
          <a:prstGeom prst="rect">
            <a:avLst/>
          </a:prstGeom>
          <a:solidFill>
            <a:srgbClr val="00D4FF"/>
          </a:solidFill>
          <a:ln w="12700">
            <a:solidFill>
              <a:srgbClr val="00D4FF"/>
            </a:solidFill>
            <a:prstDash val="solid"/>
          </a:ln>
        </p:spPr>
        <p:txBody>
          <a:bodyPr/>
          <a:lstStyle/>
          <a:p>
            <a:endParaRPr lang="en-US"/>
          </a:p>
        </p:txBody>
      </p:sp>
      <p:sp>
        <p:nvSpPr>
          <p:cNvPr id="7" name="Shape 5"/>
          <p:cNvSpPr/>
          <p:nvPr/>
        </p:nvSpPr>
        <p:spPr>
          <a:xfrm>
            <a:off x="365760" y="1417320"/>
            <a:ext cx="8412480" cy="1051560"/>
          </a:xfrm>
          <a:prstGeom prst="rect">
            <a:avLst/>
          </a:prstGeom>
          <a:solidFill>
            <a:srgbClr val="131D30"/>
          </a:solidFill>
          <a:ln w="6350">
            <a:solidFill>
              <a:srgbClr val="FF5252"/>
            </a:solidFill>
            <a:prstDash val="solid"/>
          </a:ln>
        </p:spPr>
        <p:txBody>
          <a:bodyPr/>
          <a:lstStyle/>
          <a:p>
            <a:endParaRPr lang="en-US"/>
          </a:p>
        </p:txBody>
      </p:sp>
      <p:sp>
        <p:nvSpPr>
          <p:cNvPr id="8" name="Shape 6"/>
          <p:cNvSpPr/>
          <p:nvPr/>
        </p:nvSpPr>
        <p:spPr>
          <a:xfrm>
            <a:off x="365760" y="1417320"/>
            <a:ext cx="54864" cy="1051560"/>
          </a:xfrm>
          <a:prstGeom prst="rect">
            <a:avLst/>
          </a:prstGeom>
          <a:solidFill>
            <a:srgbClr val="FF5252"/>
          </a:solidFill>
          <a:ln w="12700">
            <a:solidFill>
              <a:srgbClr val="FF5252"/>
            </a:solidFill>
            <a:prstDash val="solid"/>
          </a:ln>
        </p:spPr>
        <p:txBody>
          <a:bodyPr/>
          <a:lstStyle/>
          <a:p>
            <a:endParaRPr lang="en-US"/>
          </a:p>
        </p:txBody>
      </p:sp>
      <p:sp>
        <p:nvSpPr>
          <p:cNvPr id="9" name="Shape 7"/>
          <p:cNvSpPr/>
          <p:nvPr/>
        </p:nvSpPr>
        <p:spPr>
          <a:xfrm>
            <a:off x="8046720" y="1527048"/>
            <a:ext cx="594360" cy="256032"/>
          </a:xfrm>
          <a:prstGeom prst="rect">
            <a:avLst/>
          </a:prstGeom>
          <a:solidFill>
            <a:srgbClr val="FF5252">
              <a:alpha val="30000"/>
            </a:srgbClr>
          </a:solidFill>
          <a:ln w="6350">
            <a:solidFill>
              <a:srgbClr val="FF5252"/>
            </a:solidFill>
            <a:prstDash val="solid"/>
          </a:ln>
        </p:spPr>
        <p:txBody>
          <a:bodyPr/>
          <a:lstStyle/>
          <a:p>
            <a:endParaRPr lang="en-US"/>
          </a:p>
        </p:txBody>
      </p:sp>
      <p:sp>
        <p:nvSpPr>
          <p:cNvPr id="10" name="Text 8"/>
          <p:cNvSpPr/>
          <p:nvPr/>
        </p:nvSpPr>
        <p:spPr>
          <a:xfrm>
            <a:off x="8046720" y="1527048"/>
            <a:ext cx="594360" cy="256032"/>
          </a:xfrm>
          <a:prstGeom prst="rect">
            <a:avLst/>
          </a:prstGeom>
          <a:noFill/>
          <a:ln/>
        </p:spPr>
        <p:txBody>
          <a:bodyPr wrap="square" lIns="0" tIns="0" rIns="0" bIns="0" rtlCol="0" anchor="ctr"/>
          <a:lstStyle/>
          <a:p>
            <a:pPr marL="0" indent="0" algn="ctr">
              <a:buNone/>
            </a:pPr>
            <a:r>
              <a:rPr lang="en-US" sz="800" b="1" dirty="0">
                <a:solidFill>
                  <a:srgbClr val="FF5252"/>
                </a:solidFill>
                <a:latin typeface="Consolas" pitchFamily="34" charset="0"/>
                <a:ea typeface="Consolas" pitchFamily="34" charset="-122"/>
                <a:cs typeface="Consolas" pitchFamily="34" charset="-120"/>
              </a:rPr>
              <a:t>HIGH</a:t>
            </a:r>
            <a:endParaRPr lang="en-US" sz="800" dirty="0"/>
          </a:p>
        </p:txBody>
      </p:sp>
      <p:sp>
        <p:nvSpPr>
          <p:cNvPr id="11" name="Text 9"/>
          <p:cNvSpPr/>
          <p:nvPr/>
        </p:nvSpPr>
        <p:spPr>
          <a:xfrm>
            <a:off x="548640" y="1508760"/>
            <a:ext cx="7406640" cy="274320"/>
          </a:xfrm>
          <a:prstGeom prst="rect">
            <a:avLst/>
          </a:prstGeom>
          <a:noFill/>
          <a:ln/>
        </p:spPr>
        <p:txBody>
          <a:bodyPr wrap="square" lIns="0" tIns="0" rIns="0" bIns="0" rtlCol="0" anchor="ctr"/>
          <a:lstStyle/>
          <a:p>
            <a:pPr marL="0" indent="0">
              <a:buNone/>
            </a:pPr>
            <a:r>
              <a:rPr lang="en-US" sz="1300" b="1" dirty="0">
                <a:solidFill>
                  <a:srgbClr val="F0F4FF"/>
                </a:solidFill>
                <a:latin typeface="Calibri" pitchFamily="34" charset="0"/>
                <a:ea typeface="Calibri" pitchFamily="34" charset="-122"/>
                <a:cs typeface="Calibri" pitchFamily="34" charset="-120"/>
              </a:rPr>
              <a:t>Vague brief → hallucinated spec</a:t>
            </a:r>
            <a:endParaRPr lang="en-US" sz="1300" dirty="0"/>
          </a:p>
        </p:txBody>
      </p:sp>
      <p:sp>
        <p:nvSpPr>
          <p:cNvPr id="12" name="Text 10"/>
          <p:cNvSpPr/>
          <p:nvPr/>
        </p:nvSpPr>
        <p:spPr>
          <a:xfrm>
            <a:off x="548640" y="1801368"/>
            <a:ext cx="7406640" cy="594360"/>
          </a:xfrm>
          <a:prstGeom prst="rect">
            <a:avLst/>
          </a:prstGeom>
          <a:noFill/>
          <a:ln/>
        </p:spPr>
        <p:txBody>
          <a:bodyPr wrap="square" lIns="0" tIns="0" rIns="0" bIns="0" rtlCol="0" anchor="ctr"/>
          <a:lstStyle/>
          <a:p>
            <a:pPr marL="0" indent="0">
              <a:buNone/>
            </a:pPr>
            <a:r>
              <a:rPr lang="en-US" sz="1100" dirty="0">
                <a:solidFill>
                  <a:srgbClr val="7A8FAD"/>
                </a:solidFill>
                <a:latin typeface="Calibri" pitchFamily="34" charset="0"/>
                <a:ea typeface="Calibri" pitchFamily="34" charset="-122"/>
                <a:cs typeface="Calibri" pitchFamily="34" charset="-120"/>
              </a:rPr>
              <a:t>Near-zero input → coherent-looking but fully invented output.</a:t>
            </a:r>
            <a:endParaRPr lang="en-US" sz="1100" dirty="0"/>
          </a:p>
          <a:p>
            <a:pPr marL="0" indent="0">
              <a:buNone/>
            </a:pPr>
            <a:r>
              <a:rPr lang="en-US" sz="1100" dirty="0">
                <a:solidFill>
                  <a:srgbClr val="7A8FAD"/>
                </a:solidFill>
                <a:latin typeface="Calibri" pitchFamily="34" charset="0"/>
                <a:ea typeface="Calibri" pitchFamily="34" charset="-122"/>
                <a:cs typeface="Calibri" pitchFamily="34" charset="-120"/>
              </a:rPr>
              <a:t>'The wrong spec is worse than no spec.'</a:t>
            </a:r>
            <a:endParaRPr lang="en-US" sz="1100" dirty="0"/>
          </a:p>
        </p:txBody>
      </p:sp>
      <p:sp>
        <p:nvSpPr>
          <p:cNvPr id="13" name="Shape 11"/>
          <p:cNvSpPr/>
          <p:nvPr/>
        </p:nvSpPr>
        <p:spPr>
          <a:xfrm>
            <a:off x="365760" y="2606040"/>
            <a:ext cx="8412480" cy="1051560"/>
          </a:xfrm>
          <a:prstGeom prst="rect">
            <a:avLst/>
          </a:prstGeom>
          <a:solidFill>
            <a:srgbClr val="131D30"/>
          </a:solidFill>
          <a:ln w="6350">
            <a:solidFill>
              <a:srgbClr val="FF5252"/>
            </a:solidFill>
            <a:prstDash val="solid"/>
          </a:ln>
        </p:spPr>
        <p:txBody>
          <a:bodyPr/>
          <a:lstStyle/>
          <a:p>
            <a:endParaRPr lang="en-US"/>
          </a:p>
        </p:txBody>
      </p:sp>
      <p:sp>
        <p:nvSpPr>
          <p:cNvPr id="14" name="Shape 12"/>
          <p:cNvSpPr/>
          <p:nvPr/>
        </p:nvSpPr>
        <p:spPr>
          <a:xfrm>
            <a:off x="365760" y="2606040"/>
            <a:ext cx="54864" cy="1051560"/>
          </a:xfrm>
          <a:prstGeom prst="rect">
            <a:avLst/>
          </a:prstGeom>
          <a:solidFill>
            <a:srgbClr val="FF5252"/>
          </a:solidFill>
          <a:ln w="12700">
            <a:solidFill>
              <a:srgbClr val="FF5252"/>
            </a:solidFill>
            <a:prstDash val="solid"/>
          </a:ln>
        </p:spPr>
        <p:txBody>
          <a:bodyPr/>
          <a:lstStyle/>
          <a:p>
            <a:endParaRPr lang="en-US"/>
          </a:p>
        </p:txBody>
      </p:sp>
      <p:sp>
        <p:nvSpPr>
          <p:cNvPr id="15" name="Shape 13"/>
          <p:cNvSpPr/>
          <p:nvPr/>
        </p:nvSpPr>
        <p:spPr>
          <a:xfrm>
            <a:off x="8046720" y="2715768"/>
            <a:ext cx="594360" cy="256032"/>
          </a:xfrm>
          <a:prstGeom prst="rect">
            <a:avLst/>
          </a:prstGeom>
          <a:solidFill>
            <a:srgbClr val="FF5252">
              <a:alpha val="30000"/>
            </a:srgbClr>
          </a:solidFill>
          <a:ln w="6350">
            <a:solidFill>
              <a:srgbClr val="FF5252"/>
            </a:solidFill>
            <a:prstDash val="solid"/>
          </a:ln>
        </p:spPr>
        <p:txBody>
          <a:bodyPr/>
          <a:lstStyle/>
          <a:p>
            <a:endParaRPr lang="en-US"/>
          </a:p>
        </p:txBody>
      </p:sp>
      <p:sp>
        <p:nvSpPr>
          <p:cNvPr id="16" name="Text 14"/>
          <p:cNvSpPr/>
          <p:nvPr/>
        </p:nvSpPr>
        <p:spPr>
          <a:xfrm>
            <a:off x="8046720" y="2715768"/>
            <a:ext cx="594360" cy="256032"/>
          </a:xfrm>
          <a:prstGeom prst="rect">
            <a:avLst/>
          </a:prstGeom>
          <a:noFill/>
          <a:ln/>
        </p:spPr>
        <p:txBody>
          <a:bodyPr wrap="square" lIns="0" tIns="0" rIns="0" bIns="0" rtlCol="0" anchor="ctr"/>
          <a:lstStyle/>
          <a:p>
            <a:pPr marL="0" indent="0" algn="ctr">
              <a:buNone/>
            </a:pPr>
            <a:r>
              <a:rPr lang="en-US" sz="800" b="1" dirty="0">
                <a:solidFill>
                  <a:srgbClr val="FF5252"/>
                </a:solidFill>
                <a:latin typeface="Consolas" pitchFamily="34" charset="0"/>
                <a:ea typeface="Consolas" pitchFamily="34" charset="-122"/>
                <a:cs typeface="Consolas" pitchFamily="34" charset="-120"/>
              </a:rPr>
              <a:t>HIGH</a:t>
            </a:r>
            <a:endParaRPr lang="en-US" sz="800" dirty="0"/>
          </a:p>
        </p:txBody>
      </p:sp>
      <p:sp>
        <p:nvSpPr>
          <p:cNvPr id="17" name="Text 15"/>
          <p:cNvSpPr/>
          <p:nvPr/>
        </p:nvSpPr>
        <p:spPr>
          <a:xfrm>
            <a:off x="548640" y="2697480"/>
            <a:ext cx="7406640" cy="274320"/>
          </a:xfrm>
          <a:prstGeom prst="rect">
            <a:avLst/>
          </a:prstGeom>
          <a:noFill/>
          <a:ln/>
        </p:spPr>
        <p:txBody>
          <a:bodyPr wrap="square" lIns="0" tIns="0" rIns="0" bIns="0" rtlCol="0" anchor="ctr"/>
          <a:lstStyle/>
          <a:p>
            <a:pPr marL="0" indent="0">
              <a:buNone/>
            </a:pPr>
            <a:r>
              <a:rPr lang="en-US" sz="1300" b="1" dirty="0">
                <a:solidFill>
                  <a:srgbClr val="F0F4FF"/>
                </a:solidFill>
                <a:latin typeface="Calibri" pitchFamily="34" charset="0"/>
                <a:ea typeface="Calibri" pitchFamily="34" charset="-122"/>
                <a:cs typeface="Calibri" pitchFamily="34" charset="-120"/>
              </a:rPr>
              <a:t>Contradictions passed through silently</a:t>
            </a:r>
            <a:endParaRPr lang="en-US" sz="1300" dirty="0"/>
          </a:p>
        </p:txBody>
      </p:sp>
      <p:sp>
        <p:nvSpPr>
          <p:cNvPr id="18" name="Text 16"/>
          <p:cNvSpPr/>
          <p:nvPr/>
        </p:nvSpPr>
        <p:spPr>
          <a:xfrm>
            <a:off x="548640" y="2990088"/>
            <a:ext cx="7406640" cy="594360"/>
          </a:xfrm>
          <a:prstGeom prst="rect">
            <a:avLst/>
          </a:prstGeom>
          <a:noFill/>
          <a:ln/>
        </p:spPr>
        <p:txBody>
          <a:bodyPr wrap="square" lIns="0" tIns="0" rIns="0" bIns="0" rtlCol="0" anchor="ctr"/>
          <a:lstStyle/>
          <a:p>
            <a:pPr marL="0" indent="0">
              <a:buNone/>
            </a:pPr>
            <a:r>
              <a:rPr lang="en-US" sz="1100" dirty="0">
                <a:solidFill>
                  <a:srgbClr val="7A8FAD"/>
                </a:solidFill>
                <a:latin typeface="Calibri" pitchFamily="34" charset="0"/>
                <a:ea typeface="Calibri" pitchFamily="34" charset="-122"/>
                <a:cs typeface="Calibri" pitchFamily="34" charset="-120"/>
              </a:rPr>
              <a:t>'Free forever' + '20% commission' → tool picked one and continued.</a:t>
            </a:r>
            <a:endParaRPr lang="en-US" sz="1100" dirty="0"/>
          </a:p>
          <a:p>
            <a:pPr marL="0" indent="0">
              <a:buNone/>
            </a:pPr>
            <a:r>
              <a:rPr lang="en-US" sz="1100" dirty="0">
                <a:solidFill>
                  <a:srgbClr val="7A8FAD"/>
                </a:solidFill>
                <a:latin typeface="Calibri" pitchFamily="34" charset="0"/>
                <a:ea typeface="Calibri" pitchFamily="34" charset="-122"/>
                <a:cs typeface="Calibri" pitchFamily="34" charset="-120"/>
              </a:rPr>
              <a:t>Most dangerous: confident, plausible, wrong output.</a:t>
            </a:r>
            <a:endParaRPr lang="en-US" sz="1100" dirty="0"/>
          </a:p>
        </p:txBody>
      </p:sp>
      <p:sp>
        <p:nvSpPr>
          <p:cNvPr id="19" name="Shape 17"/>
          <p:cNvSpPr/>
          <p:nvPr/>
        </p:nvSpPr>
        <p:spPr>
          <a:xfrm>
            <a:off x="365760" y="3794760"/>
            <a:ext cx="8412480" cy="1051560"/>
          </a:xfrm>
          <a:prstGeom prst="rect">
            <a:avLst/>
          </a:prstGeom>
          <a:solidFill>
            <a:srgbClr val="131D30"/>
          </a:solidFill>
          <a:ln w="6350">
            <a:solidFill>
              <a:srgbClr val="FFB74D"/>
            </a:solidFill>
            <a:prstDash val="solid"/>
          </a:ln>
        </p:spPr>
        <p:txBody>
          <a:bodyPr/>
          <a:lstStyle/>
          <a:p>
            <a:endParaRPr lang="en-US"/>
          </a:p>
        </p:txBody>
      </p:sp>
      <p:sp>
        <p:nvSpPr>
          <p:cNvPr id="20" name="Shape 18"/>
          <p:cNvSpPr/>
          <p:nvPr/>
        </p:nvSpPr>
        <p:spPr>
          <a:xfrm>
            <a:off x="365760" y="3794760"/>
            <a:ext cx="54864" cy="1051560"/>
          </a:xfrm>
          <a:prstGeom prst="rect">
            <a:avLst/>
          </a:prstGeom>
          <a:solidFill>
            <a:srgbClr val="FFB74D"/>
          </a:solidFill>
          <a:ln w="12700">
            <a:solidFill>
              <a:srgbClr val="FFB74D"/>
            </a:solidFill>
            <a:prstDash val="solid"/>
          </a:ln>
        </p:spPr>
        <p:txBody>
          <a:bodyPr/>
          <a:lstStyle/>
          <a:p>
            <a:endParaRPr lang="en-US"/>
          </a:p>
        </p:txBody>
      </p:sp>
      <p:sp>
        <p:nvSpPr>
          <p:cNvPr id="21" name="Shape 19"/>
          <p:cNvSpPr/>
          <p:nvPr/>
        </p:nvSpPr>
        <p:spPr>
          <a:xfrm>
            <a:off x="8046720" y="3904488"/>
            <a:ext cx="594360" cy="256032"/>
          </a:xfrm>
          <a:prstGeom prst="rect">
            <a:avLst/>
          </a:prstGeom>
          <a:solidFill>
            <a:srgbClr val="FFB74D">
              <a:alpha val="30000"/>
            </a:srgbClr>
          </a:solidFill>
          <a:ln w="6350">
            <a:solidFill>
              <a:srgbClr val="FFB74D"/>
            </a:solidFill>
            <a:prstDash val="solid"/>
          </a:ln>
        </p:spPr>
        <p:txBody>
          <a:bodyPr/>
          <a:lstStyle/>
          <a:p>
            <a:endParaRPr lang="en-US"/>
          </a:p>
        </p:txBody>
      </p:sp>
      <p:sp>
        <p:nvSpPr>
          <p:cNvPr id="22" name="Text 20"/>
          <p:cNvSpPr/>
          <p:nvPr/>
        </p:nvSpPr>
        <p:spPr>
          <a:xfrm>
            <a:off x="8046720" y="3904488"/>
            <a:ext cx="594360" cy="256032"/>
          </a:xfrm>
          <a:prstGeom prst="rect">
            <a:avLst/>
          </a:prstGeom>
          <a:noFill/>
          <a:ln/>
        </p:spPr>
        <p:txBody>
          <a:bodyPr wrap="square" lIns="0" tIns="0" rIns="0" bIns="0" rtlCol="0" anchor="ctr"/>
          <a:lstStyle/>
          <a:p>
            <a:pPr marL="0" indent="0" algn="ctr">
              <a:buNone/>
            </a:pPr>
            <a:r>
              <a:rPr lang="en-US" sz="800" b="1" dirty="0">
                <a:solidFill>
                  <a:srgbClr val="FFB74D"/>
                </a:solidFill>
                <a:latin typeface="Consolas" pitchFamily="34" charset="0"/>
                <a:ea typeface="Consolas" pitchFamily="34" charset="-122"/>
                <a:cs typeface="Consolas" pitchFamily="34" charset="-120"/>
              </a:rPr>
              <a:t>MED</a:t>
            </a:r>
            <a:endParaRPr lang="en-US" sz="800" dirty="0"/>
          </a:p>
        </p:txBody>
      </p:sp>
      <p:sp>
        <p:nvSpPr>
          <p:cNvPr id="23" name="Text 21"/>
          <p:cNvSpPr/>
          <p:nvPr/>
        </p:nvSpPr>
        <p:spPr>
          <a:xfrm>
            <a:off x="548640" y="3886200"/>
            <a:ext cx="7406640" cy="274320"/>
          </a:xfrm>
          <a:prstGeom prst="rect">
            <a:avLst/>
          </a:prstGeom>
          <a:noFill/>
          <a:ln/>
        </p:spPr>
        <p:txBody>
          <a:bodyPr wrap="square" lIns="0" tIns="0" rIns="0" bIns="0" rtlCol="0" anchor="ctr"/>
          <a:lstStyle/>
          <a:p>
            <a:pPr marL="0" indent="0">
              <a:buNone/>
            </a:pPr>
            <a:r>
              <a:rPr lang="en-US" sz="1300" b="1" dirty="0">
                <a:solidFill>
                  <a:srgbClr val="F0F4FF"/>
                </a:solidFill>
                <a:latin typeface="Calibri" pitchFamily="34" charset="0"/>
                <a:ea typeface="Calibri" pitchFamily="34" charset="-122"/>
                <a:cs typeface="Calibri" pitchFamily="34" charset="-120"/>
              </a:rPr>
              <a:t>Project deduplication partial</a:t>
            </a:r>
            <a:endParaRPr lang="en-US" sz="1300" dirty="0"/>
          </a:p>
        </p:txBody>
      </p:sp>
      <p:sp>
        <p:nvSpPr>
          <p:cNvPr id="24" name="Text 22"/>
          <p:cNvSpPr/>
          <p:nvPr/>
        </p:nvSpPr>
        <p:spPr>
          <a:xfrm>
            <a:off x="548640" y="4178808"/>
            <a:ext cx="7406640" cy="594360"/>
          </a:xfrm>
          <a:prstGeom prst="rect">
            <a:avLst/>
          </a:prstGeom>
          <a:noFill/>
          <a:ln/>
        </p:spPr>
        <p:txBody>
          <a:bodyPr wrap="square" lIns="0" tIns="0" rIns="0" bIns="0" rtlCol="0" anchor="ctr"/>
          <a:lstStyle/>
          <a:p>
            <a:pPr marL="0" indent="0">
              <a:buNone/>
            </a:pPr>
            <a:r>
              <a:rPr lang="en-US" sz="1100" dirty="0">
                <a:solidFill>
                  <a:srgbClr val="7A8FAD"/>
                </a:solidFill>
                <a:latin typeface="Calibri" pitchFamily="34" charset="0"/>
                <a:ea typeface="Calibri" pitchFamily="34" charset="-122"/>
                <a:cs typeface="Calibri" pitchFamily="34" charset="-120"/>
              </a:rPr>
              <a:t>Company reused correctly. Same project created 3× at different priority levels.</a:t>
            </a:r>
            <a:endParaRPr lang="en-US" sz="1100" dirty="0"/>
          </a:p>
          <a:p>
            <a:pPr marL="0" indent="0">
              <a:buNone/>
            </a:pPr>
            <a:r>
              <a:rPr lang="en-US" sz="1100" dirty="0">
                <a:solidFill>
                  <a:srgbClr val="7A8FAD"/>
                </a:solidFill>
                <a:latin typeface="Calibri" pitchFamily="34" charset="0"/>
                <a:ea typeface="Calibri" pitchFamily="34" charset="-122"/>
                <a:cs typeface="Calibri" pitchFamily="34" charset="-120"/>
              </a:rPr>
              <a:t>Priority treated as project property, not task property.</a:t>
            </a:r>
            <a:endParaRPr lang="en-US" sz="1100" dirty="0"/>
          </a:p>
        </p:txBody>
      </p:sp>
      <p:sp>
        <p:nvSpPr>
          <p:cNvPr id="25" name="Text 23"/>
          <p:cNvSpPr/>
          <p:nvPr/>
        </p:nvSpPr>
        <p:spPr>
          <a:xfrm>
            <a:off x="365760" y="4828032"/>
            <a:ext cx="8412480" cy="201168"/>
          </a:xfrm>
          <a:prstGeom prst="rect">
            <a:avLst/>
          </a:prstGeom>
          <a:noFill/>
          <a:ln/>
        </p:spPr>
        <p:txBody>
          <a:bodyPr wrap="square" lIns="0" tIns="0" rIns="0" bIns="0" rtlCol="0" anchor="ctr"/>
          <a:lstStyle/>
          <a:p>
            <a:pPr marL="0" indent="0">
              <a:buNone/>
            </a:pPr>
            <a:r>
              <a:rPr lang="en-US" sz="950" dirty="0">
                <a:solidFill>
                  <a:srgbClr val="00E5A0"/>
                </a:solidFill>
                <a:latin typeface="Calibri" pitchFamily="34" charset="0"/>
                <a:ea typeface="Calibri" pitchFamily="34" charset="-122"/>
                <a:cs typeface="Calibri" pitchFamily="34" charset="-120"/>
              </a:rPr>
              <a:t>✓ Future-heavy briefs: handled correctly  ·  ✓ Non-technical briefs: handled correctly</a:t>
            </a:r>
            <a:endParaRPr lang="en-US" sz="950" dirty="0"/>
          </a:p>
        </p:txBody>
      </p:sp>
      <p:sp>
        <p:nvSpPr>
          <p:cNvPr id="26" name="Text 24"/>
          <p:cNvSpPr/>
          <p:nvPr/>
        </p:nvSpPr>
        <p:spPr>
          <a:xfrm>
            <a:off x="8412480" y="4754880"/>
            <a:ext cx="640080" cy="274320"/>
          </a:xfrm>
          <a:prstGeom prst="rect">
            <a:avLst/>
          </a:prstGeom>
          <a:noFill/>
          <a:ln/>
        </p:spPr>
        <p:txBody>
          <a:bodyPr wrap="square" rtlCol="0" anchor="ctr"/>
          <a:lstStyle/>
          <a:p>
            <a:pPr marL="0" indent="0" algn="r">
              <a:buNone/>
            </a:pPr>
            <a:r>
              <a:rPr lang="en-US" sz="900" dirty="0">
                <a:solidFill>
                  <a:srgbClr val="4A5F7A"/>
                </a:solidFill>
                <a:latin typeface="Consolas" pitchFamily="34" charset="0"/>
                <a:ea typeface="Consolas" pitchFamily="34" charset="-122"/>
                <a:cs typeface="Consolas"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365760" y="256032"/>
            <a:ext cx="1005840" cy="256032"/>
          </a:xfrm>
          <a:prstGeom prst="roundRect">
            <a:avLst/>
          </a:prstGeom>
          <a:solidFill>
            <a:srgbClr val="B39DDB">
              <a:alpha val="20000"/>
            </a:srgbClr>
          </a:solidFill>
          <a:ln w="6350">
            <a:solidFill>
              <a:srgbClr val="B39DDB"/>
            </a:solidFill>
            <a:prstDash val="solid"/>
          </a:ln>
        </p:spPr>
        <p:txBody>
          <a:bodyPr/>
          <a:lstStyle/>
          <a:p>
            <a:endParaRPr lang="en-US"/>
          </a:p>
        </p:txBody>
      </p:sp>
      <p:sp>
        <p:nvSpPr>
          <p:cNvPr id="3" name="Text 1"/>
          <p:cNvSpPr/>
          <p:nvPr/>
        </p:nvSpPr>
        <p:spPr>
          <a:xfrm>
            <a:off x="365760" y="228600"/>
            <a:ext cx="1005840" cy="274320"/>
          </a:xfrm>
          <a:prstGeom prst="rect">
            <a:avLst/>
          </a:prstGeom>
          <a:noFill/>
          <a:ln/>
        </p:spPr>
        <p:txBody>
          <a:bodyPr wrap="square" lIns="0" tIns="0" rIns="0" bIns="0" rtlCol="0" anchor="ctr"/>
          <a:lstStyle/>
          <a:p>
            <a:pPr marL="0" indent="0" algn="ctr">
              <a:buNone/>
            </a:pPr>
            <a:r>
              <a:rPr lang="en-US" sz="800" b="1" dirty="0">
                <a:solidFill>
                  <a:srgbClr val="B39DDB"/>
                </a:solidFill>
                <a:latin typeface="Consolas" pitchFamily="34" charset="0"/>
                <a:ea typeface="Consolas" pitchFamily="34" charset="-122"/>
                <a:cs typeface="Consolas" pitchFamily="34" charset="-120"/>
              </a:rPr>
              <a:t>NEXT</a:t>
            </a:r>
            <a:endParaRPr lang="en-US" sz="800" dirty="0"/>
          </a:p>
        </p:txBody>
      </p:sp>
      <p:sp>
        <p:nvSpPr>
          <p:cNvPr id="4" name="Text 2"/>
          <p:cNvSpPr/>
          <p:nvPr/>
        </p:nvSpPr>
        <p:spPr>
          <a:xfrm>
            <a:off x="365760" y="594360"/>
            <a:ext cx="8412480" cy="548640"/>
          </a:xfrm>
          <a:prstGeom prst="rect">
            <a:avLst/>
          </a:prstGeom>
          <a:noFill/>
          <a:ln/>
        </p:spPr>
        <p:txBody>
          <a:bodyPr wrap="square" lIns="0" tIns="0" rIns="0" bIns="0" rtlCol="0" anchor="ctr"/>
          <a:lstStyle/>
          <a:p>
            <a:pPr marL="0" indent="0">
              <a:buNone/>
            </a:pPr>
            <a:r>
              <a:rPr lang="en-US" sz="2600" b="1" dirty="0">
                <a:solidFill>
                  <a:srgbClr val="F0F4FF"/>
                </a:solidFill>
                <a:latin typeface="Calibri" pitchFamily="34" charset="0"/>
                <a:ea typeface="Calibri" pitchFamily="34" charset="-122"/>
                <a:cs typeface="Calibri" pitchFamily="34" charset="-120"/>
              </a:rPr>
              <a:t>What I Would Build Next</a:t>
            </a:r>
            <a:endParaRPr lang="en-US" sz="2600" dirty="0"/>
          </a:p>
        </p:txBody>
      </p:sp>
      <p:sp>
        <p:nvSpPr>
          <p:cNvPr id="5" name="Text 3"/>
          <p:cNvSpPr/>
          <p:nvPr/>
        </p:nvSpPr>
        <p:spPr>
          <a:xfrm>
            <a:off x="365760" y="1097280"/>
            <a:ext cx="8412480" cy="320040"/>
          </a:xfrm>
          <a:prstGeom prst="rect">
            <a:avLst/>
          </a:prstGeom>
          <a:noFill/>
          <a:ln/>
        </p:spPr>
        <p:txBody>
          <a:bodyPr wrap="square" lIns="0" tIns="0" rIns="0" bIns="0" rtlCol="0" anchor="ctr"/>
          <a:lstStyle/>
          <a:p>
            <a:pPr marL="0" indent="0">
              <a:buNone/>
            </a:pPr>
            <a:r>
              <a:rPr lang="en-US" sz="1200" dirty="0">
                <a:solidFill>
                  <a:srgbClr val="7A8FAD"/>
                </a:solidFill>
                <a:latin typeface="Calibri" pitchFamily="34" charset="0"/>
                <a:ea typeface="Calibri" pitchFamily="34" charset="-122"/>
                <a:cs typeface="Calibri" pitchFamily="34" charset="-120"/>
              </a:rPr>
              <a:t>With more runway — four concrete directions</a:t>
            </a:r>
            <a:endParaRPr lang="en-US" sz="1200" dirty="0"/>
          </a:p>
        </p:txBody>
      </p:sp>
      <p:sp>
        <p:nvSpPr>
          <p:cNvPr id="6" name="Shape 4"/>
          <p:cNvSpPr/>
          <p:nvPr/>
        </p:nvSpPr>
        <p:spPr>
          <a:xfrm>
            <a:off x="365760" y="1087121"/>
            <a:ext cx="548640" cy="36576"/>
          </a:xfrm>
          <a:prstGeom prst="rect">
            <a:avLst/>
          </a:prstGeom>
          <a:solidFill>
            <a:srgbClr val="00D4FF"/>
          </a:solidFill>
          <a:ln w="12700">
            <a:solidFill>
              <a:srgbClr val="00D4FF"/>
            </a:solidFill>
            <a:prstDash val="solid"/>
          </a:ln>
        </p:spPr>
        <p:txBody>
          <a:bodyPr/>
          <a:lstStyle/>
          <a:p>
            <a:endParaRPr lang="en-US"/>
          </a:p>
        </p:txBody>
      </p:sp>
      <p:sp>
        <p:nvSpPr>
          <p:cNvPr id="7" name="Shape 5"/>
          <p:cNvSpPr/>
          <p:nvPr/>
        </p:nvSpPr>
        <p:spPr>
          <a:xfrm>
            <a:off x="365760" y="1417320"/>
            <a:ext cx="4114800" cy="1417320"/>
          </a:xfrm>
          <a:prstGeom prst="rect">
            <a:avLst/>
          </a:prstGeom>
          <a:solidFill>
            <a:srgbClr val="131D30"/>
          </a:solidFill>
          <a:ln w="6350">
            <a:solidFill>
              <a:srgbClr val="00D4FF"/>
            </a:solidFill>
            <a:prstDash val="solid"/>
          </a:ln>
        </p:spPr>
        <p:txBody>
          <a:bodyPr/>
          <a:lstStyle/>
          <a:p>
            <a:endParaRPr lang="en-US"/>
          </a:p>
        </p:txBody>
      </p:sp>
      <p:sp>
        <p:nvSpPr>
          <p:cNvPr id="8" name="Shape 6"/>
          <p:cNvSpPr/>
          <p:nvPr/>
        </p:nvSpPr>
        <p:spPr>
          <a:xfrm>
            <a:off x="365760" y="1417320"/>
            <a:ext cx="4114800" cy="54864"/>
          </a:xfrm>
          <a:prstGeom prst="rect">
            <a:avLst/>
          </a:prstGeom>
          <a:solidFill>
            <a:srgbClr val="00D4FF"/>
          </a:solidFill>
          <a:ln w="12700">
            <a:solidFill>
              <a:srgbClr val="00D4FF"/>
            </a:solidFill>
            <a:prstDash val="solid"/>
          </a:ln>
        </p:spPr>
        <p:txBody>
          <a:bodyPr/>
          <a:lstStyle/>
          <a:p>
            <a:endParaRPr lang="en-US"/>
          </a:p>
        </p:txBody>
      </p:sp>
      <p:sp>
        <p:nvSpPr>
          <p:cNvPr id="9" name="Text 7"/>
          <p:cNvSpPr/>
          <p:nvPr/>
        </p:nvSpPr>
        <p:spPr>
          <a:xfrm>
            <a:off x="502920" y="1554480"/>
            <a:ext cx="3840480" cy="320040"/>
          </a:xfrm>
          <a:prstGeom prst="rect">
            <a:avLst/>
          </a:prstGeom>
          <a:noFill/>
          <a:ln/>
        </p:spPr>
        <p:txBody>
          <a:bodyPr wrap="square" lIns="0" tIns="0" rIns="0" bIns="0"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LangGraph agentic workflow</a:t>
            </a:r>
            <a:endParaRPr lang="en-US" sz="1200" dirty="0"/>
          </a:p>
        </p:txBody>
      </p:sp>
      <p:sp>
        <p:nvSpPr>
          <p:cNvPr id="10" name="Text 8"/>
          <p:cNvSpPr/>
          <p:nvPr/>
        </p:nvSpPr>
        <p:spPr>
          <a:xfrm>
            <a:off x="502920" y="1920240"/>
            <a:ext cx="3840480" cy="822960"/>
          </a:xfrm>
          <a:prstGeom prst="rect">
            <a:avLst/>
          </a:prstGeom>
          <a:noFill/>
          <a:ln/>
        </p:spPr>
        <p:txBody>
          <a:bodyPr wrap="square" lIns="0" tIns="0" rIns="0" bIns="0" rtlCol="0" anchor="ctr"/>
          <a:lstStyle/>
          <a:p>
            <a:pPr marL="0" indent="0">
              <a:buNone/>
            </a:pPr>
            <a:r>
              <a:rPr lang="en-US" sz="1050" dirty="0">
                <a:solidFill>
                  <a:srgbClr val="7A8FAD"/>
                </a:solidFill>
                <a:latin typeface="Calibri" pitchFamily="34" charset="0"/>
                <a:ea typeface="Calibri" pitchFamily="34" charset="-122"/>
                <a:cs typeface="Calibri" pitchFamily="34" charset="-120"/>
              </a:rPr>
              <a:t>Each stage becomes an agent with its own failure condition.</a:t>
            </a:r>
            <a:endParaRPr lang="en-US" sz="1050" dirty="0"/>
          </a:p>
          <a:p>
            <a:pPr marL="0" indent="0">
              <a:buNone/>
            </a:pPr>
            <a:r>
              <a:rPr lang="en-US" sz="1050" dirty="0">
                <a:solidFill>
                  <a:srgbClr val="7A8FAD"/>
                </a:solidFill>
                <a:latin typeface="Calibri" pitchFamily="34" charset="0"/>
                <a:ea typeface="Calibri" pitchFamily="34" charset="-122"/>
                <a:cs typeface="Calibri" pitchFamily="34" charset="-120"/>
              </a:rPr>
              <a:t>Add contradiction checker + quality gate before any generation.</a:t>
            </a:r>
            <a:endParaRPr lang="en-US" sz="1050" dirty="0"/>
          </a:p>
        </p:txBody>
      </p:sp>
      <p:sp>
        <p:nvSpPr>
          <p:cNvPr id="11" name="Shape 9"/>
          <p:cNvSpPr/>
          <p:nvPr/>
        </p:nvSpPr>
        <p:spPr>
          <a:xfrm>
            <a:off x="4663440" y="1417320"/>
            <a:ext cx="4114800" cy="1417320"/>
          </a:xfrm>
          <a:prstGeom prst="rect">
            <a:avLst/>
          </a:prstGeom>
          <a:solidFill>
            <a:srgbClr val="131D30"/>
          </a:solidFill>
          <a:ln w="6350">
            <a:solidFill>
              <a:srgbClr val="B39DDB"/>
            </a:solidFill>
            <a:prstDash val="solid"/>
          </a:ln>
        </p:spPr>
        <p:txBody>
          <a:bodyPr/>
          <a:lstStyle/>
          <a:p>
            <a:endParaRPr lang="en-US"/>
          </a:p>
        </p:txBody>
      </p:sp>
      <p:sp>
        <p:nvSpPr>
          <p:cNvPr id="12" name="Shape 10"/>
          <p:cNvSpPr/>
          <p:nvPr/>
        </p:nvSpPr>
        <p:spPr>
          <a:xfrm>
            <a:off x="4663440" y="1417320"/>
            <a:ext cx="4114800" cy="54864"/>
          </a:xfrm>
          <a:prstGeom prst="rect">
            <a:avLst/>
          </a:prstGeom>
          <a:solidFill>
            <a:srgbClr val="B39DDB"/>
          </a:solidFill>
          <a:ln w="12700">
            <a:solidFill>
              <a:srgbClr val="B39DDB"/>
            </a:solidFill>
            <a:prstDash val="solid"/>
          </a:ln>
        </p:spPr>
        <p:txBody>
          <a:bodyPr/>
          <a:lstStyle/>
          <a:p>
            <a:endParaRPr lang="en-US"/>
          </a:p>
        </p:txBody>
      </p:sp>
      <p:sp>
        <p:nvSpPr>
          <p:cNvPr id="13" name="Text 11"/>
          <p:cNvSpPr/>
          <p:nvPr/>
        </p:nvSpPr>
        <p:spPr>
          <a:xfrm>
            <a:off x="4800600" y="1554480"/>
            <a:ext cx="3840480" cy="320040"/>
          </a:xfrm>
          <a:prstGeom prst="rect">
            <a:avLst/>
          </a:prstGeom>
          <a:noFill/>
          <a:ln/>
        </p:spPr>
        <p:txBody>
          <a:bodyPr wrap="square" lIns="0" tIns="0" rIns="0" bIns="0" rtlCol="0" anchor="ctr"/>
          <a:lstStyle/>
          <a:p>
            <a:pPr marL="0" indent="0">
              <a:buNone/>
            </a:pPr>
            <a:r>
              <a:rPr lang="en-US" sz="1200" b="1" dirty="0">
                <a:solidFill>
                  <a:srgbClr val="B39DDB"/>
                </a:solidFill>
                <a:latin typeface="Calibri" pitchFamily="34" charset="0"/>
                <a:ea typeface="Calibri" pitchFamily="34" charset="-122"/>
                <a:cs typeface="Calibri" pitchFamily="34" charset="-120"/>
              </a:rPr>
              <a:t>Venture state across briefs</a:t>
            </a:r>
            <a:endParaRPr lang="en-US" sz="1200" dirty="0"/>
          </a:p>
        </p:txBody>
      </p:sp>
      <p:sp>
        <p:nvSpPr>
          <p:cNvPr id="14" name="Text 12"/>
          <p:cNvSpPr/>
          <p:nvPr/>
        </p:nvSpPr>
        <p:spPr>
          <a:xfrm>
            <a:off x="4800600" y="1920240"/>
            <a:ext cx="3840480" cy="822960"/>
          </a:xfrm>
          <a:prstGeom prst="rect">
            <a:avLst/>
          </a:prstGeom>
          <a:noFill/>
          <a:ln/>
        </p:spPr>
        <p:txBody>
          <a:bodyPr wrap="square" lIns="0" tIns="0" rIns="0" bIns="0" rtlCol="0" anchor="ctr"/>
          <a:lstStyle/>
          <a:p>
            <a:pPr marL="0" indent="0">
              <a:buNone/>
            </a:pPr>
            <a:r>
              <a:rPr lang="en-US" sz="1050" dirty="0">
                <a:solidFill>
                  <a:srgbClr val="7A8FAD"/>
                </a:solidFill>
                <a:latin typeface="Calibri" pitchFamily="34" charset="0"/>
                <a:ea typeface="Calibri" pitchFamily="34" charset="-122"/>
                <a:cs typeface="Calibri" pitchFamily="34" charset="-120"/>
              </a:rPr>
              <a:t>Track existing schema, rejected decisions, previous founder calls,</a:t>
            </a:r>
            <a:endParaRPr lang="en-US" sz="1050" dirty="0"/>
          </a:p>
          <a:p>
            <a:pPr marL="0" indent="0">
              <a:buNone/>
            </a:pPr>
            <a:r>
              <a:rPr lang="en-US" sz="1050" dirty="0">
                <a:solidFill>
                  <a:srgbClr val="7A8FAD"/>
                </a:solidFill>
                <a:latin typeface="Calibri" pitchFamily="34" charset="0"/>
                <a:ea typeface="Calibri" pitchFamily="34" charset="-122"/>
                <a:cs typeface="Calibri" pitchFamily="34" charset="-120"/>
              </a:rPr>
              <a:t>current sprint priorities. Better priorities, no stale tasks.</a:t>
            </a:r>
            <a:endParaRPr lang="en-US" sz="1050" dirty="0"/>
          </a:p>
        </p:txBody>
      </p:sp>
      <p:sp>
        <p:nvSpPr>
          <p:cNvPr id="15" name="Shape 13"/>
          <p:cNvSpPr/>
          <p:nvPr/>
        </p:nvSpPr>
        <p:spPr>
          <a:xfrm>
            <a:off x="365760" y="3017520"/>
            <a:ext cx="4114800" cy="1417320"/>
          </a:xfrm>
          <a:prstGeom prst="rect">
            <a:avLst/>
          </a:prstGeom>
          <a:solidFill>
            <a:srgbClr val="131D30"/>
          </a:solidFill>
          <a:ln w="6350">
            <a:solidFill>
              <a:srgbClr val="00E5A0"/>
            </a:solidFill>
            <a:prstDash val="solid"/>
          </a:ln>
        </p:spPr>
        <p:txBody>
          <a:bodyPr/>
          <a:lstStyle/>
          <a:p>
            <a:endParaRPr lang="en-US"/>
          </a:p>
        </p:txBody>
      </p:sp>
      <p:sp>
        <p:nvSpPr>
          <p:cNvPr id="16" name="Shape 14"/>
          <p:cNvSpPr/>
          <p:nvPr/>
        </p:nvSpPr>
        <p:spPr>
          <a:xfrm>
            <a:off x="365760" y="3017520"/>
            <a:ext cx="4114800" cy="54864"/>
          </a:xfrm>
          <a:prstGeom prst="rect">
            <a:avLst/>
          </a:prstGeom>
          <a:solidFill>
            <a:srgbClr val="00E5A0"/>
          </a:solidFill>
          <a:ln w="12700">
            <a:solidFill>
              <a:srgbClr val="00E5A0"/>
            </a:solidFill>
            <a:prstDash val="solid"/>
          </a:ln>
        </p:spPr>
        <p:txBody>
          <a:bodyPr/>
          <a:lstStyle/>
          <a:p>
            <a:endParaRPr lang="en-US"/>
          </a:p>
        </p:txBody>
      </p:sp>
      <p:sp>
        <p:nvSpPr>
          <p:cNvPr id="17" name="Text 15"/>
          <p:cNvSpPr/>
          <p:nvPr/>
        </p:nvSpPr>
        <p:spPr>
          <a:xfrm>
            <a:off x="502920" y="3154680"/>
            <a:ext cx="3840480" cy="320040"/>
          </a:xfrm>
          <a:prstGeom prst="rect">
            <a:avLst/>
          </a:prstGeom>
          <a:noFill/>
          <a:ln/>
        </p:spPr>
        <p:txBody>
          <a:bodyPr wrap="square" lIns="0" tIns="0" rIns="0" bIns="0" rtlCol="0" anchor="ctr"/>
          <a:lstStyle/>
          <a:p>
            <a:pPr marL="0" indent="0">
              <a:buNone/>
            </a:pPr>
            <a:r>
              <a:rPr lang="en-US" sz="1200" b="1" dirty="0">
                <a:solidFill>
                  <a:srgbClr val="00E5A0"/>
                </a:solidFill>
                <a:latin typeface="Calibri" pitchFamily="34" charset="0"/>
                <a:ea typeface="Calibri" pitchFamily="34" charset="-122"/>
                <a:cs typeface="Calibri" pitchFamily="34" charset="-120"/>
              </a:rPr>
              <a:t>Skill-gap mapping</a:t>
            </a:r>
            <a:endParaRPr lang="en-US" sz="1200" dirty="0"/>
          </a:p>
        </p:txBody>
      </p:sp>
      <p:sp>
        <p:nvSpPr>
          <p:cNvPr id="18" name="Text 16"/>
          <p:cNvSpPr/>
          <p:nvPr/>
        </p:nvSpPr>
        <p:spPr>
          <a:xfrm>
            <a:off x="502920" y="3520440"/>
            <a:ext cx="3840480" cy="822960"/>
          </a:xfrm>
          <a:prstGeom prst="rect">
            <a:avLst/>
          </a:prstGeom>
          <a:noFill/>
          <a:ln/>
        </p:spPr>
        <p:txBody>
          <a:bodyPr wrap="square" lIns="0" tIns="0" rIns="0" bIns="0" rtlCol="0" anchor="ctr"/>
          <a:lstStyle/>
          <a:p>
            <a:pPr marL="0" indent="0">
              <a:buNone/>
            </a:pPr>
            <a:r>
              <a:rPr lang="en-US" sz="1050" dirty="0">
                <a:solidFill>
                  <a:srgbClr val="7A8FAD"/>
                </a:solidFill>
                <a:latin typeface="Calibri" pitchFamily="34" charset="0"/>
                <a:ea typeface="Calibri" pitchFamily="34" charset="-122"/>
                <a:cs typeface="Calibri" pitchFamily="34" charset="-120"/>
              </a:rPr>
              <a:t>Compare tasks against my CV. Flag: own independently / attempt with review /</a:t>
            </a:r>
            <a:r>
              <a:rPr lang="en-US" sz="1050" dirty="0"/>
              <a:t> </a:t>
            </a:r>
            <a:r>
              <a:rPr lang="en-US" sz="1050" dirty="0">
                <a:solidFill>
                  <a:srgbClr val="7A8FAD"/>
                </a:solidFill>
                <a:latin typeface="Calibri" pitchFamily="34" charset="0"/>
                <a:ea typeface="Calibri" pitchFamily="34" charset="-122"/>
                <a:cs typeface="Calibri" pitchFamily="34" charset="-120"/>
              </a:rPr>
              <a:t>learn before owning. Directly what the brief is asking for.</a:t>
            </a:r>
            <a:endParaRPr lang="en-US" sz="1050" dirty="0"/>
          </a:p>
        </p:txBody>
      </p:sp>
      <p:sp>
        <p:nvSpPr>
          <p:cNvPr id="19" name="Shape 17"/>
          <p:cNvSpPr/>
          <p:nvPr/>
        </p:nvSpPr>
        <p:spPr>
          <a:xfrm>
            <a:off x="4663440" y="3017520"/>
            <a:ext cx="4114800" cy="1417320"/>
          </a:xfrm>
          <a:prstGeom prst="rect">
            <a:avLst/>
          </a:prstGeom>
          <a:solidFill>
            <a:srgbClr val="131D30"/>
          </a:solidFill>
          <a:ln w="6350">
            <a:solidFill>
              <a:srgbClr val="FFB74D"/>
            </a:solidFill>
            <a:prstDash val="solid"/>
          </a:ln>
        </p:spPr>
        <p:txBody>
          <a:bodyPr/>
          <a:lstStyle/>
          <a:p>
            <a:endParaRPr lang="en-US"/>
          </a:p>
        </p:txBody>
      </p:sp>
      <p:sp>
        <p:nvSpPr>
          <p:cNvPr id="20" name="Shape 18"/>
          <p:cNvSpPr/>
          <p:nvPr/>
        </p:nvSpPr>
        <p:spPr>
          <a:xfrm>
            <a:off x="4663440" y="3017520"/>
            <a:ext cx="4114800" cy="54864"/>
          </a:xfrm>
          <a:prstGeom prst="rect">
            <a:avLst/>
          </a:prstGeom>
          <a:solidFill>
            <a:srgbClr val="FFB74D"/>
          </a:solidFill>
          <a:ln w="12700">
            <a:solidFill>
              <a:srgbClr val="FFB74D"/>
            </a:solidFill>
            <a:prstDash val="solid"/>
          </a:ln>
        </p:spPr>
        <p:txBody>
          <a:bodyPr/>
          <a:lstStyle/>
          <a:p>
            <a:endParaRPr lang="en-US"/>
          </a:p>
        </p:txBody>
      </p:sp>
      <p:sp>
        <p:nvSpPr>
          <p:cNvPr id="21" name="Text 19"/>
          <p:cNvSpPr/>
          <p:nvPr/>
        </p:nvSpPr>
        <p:spPr>
          <a:xfrm>
            <a:off x="4800600" y="3154680"/>
            <a:ext cx="3840480" cy="320040"/>
          </a:xfrm>
          <a:prstGeom prst="rect">
            <a:avLst/>
          </a:prstGeom>
          <a:noFill/>
          <a:ln/>
        </p:spPr>
        <p:txBody>
          <a:bodyPr wrap="square" lIns="0" tIns="0" rIns="0" bIns="0" rtlCol="0" anchor="ctr"/>
          <a:lstStyle/>
          <a:p>
            <a:pPr marL="0" indent="0">
              <a:buNone/>
            </a:pPr>
            <a:r>
              <a:rPr lang="en-US" sz="1200" b="1" dirty="0">
                <a:solidFill>
                  <a:srgbClr val="FFB74D"/>
                </a:solidFill>
                <a:latin typeface="Calibri" pitchFamily="34" charset="0"/>
                <a:ea typeface="Calibri" pitchFamily="34" charset="-122"/>
                <a:cs typeface="Calibri" pitchFamily="34" charset="-120"/>
              </a:rPr>
              <a:t>Transcript → spec workflow</a:t>
            </a:r>
            <a:endParaRPr lang="en-US" sz="1200" dirty="0"/>
          </a:p>
        </p:txBody>
      </p:sp>
      <p:sp>
        <p:nvSpPr>
          <p:cNvPr id="22" name="Text 20"/>
          <p:cNvSpPr/>
          <p:nvPr/>
        </p:nvSpPr>
        <p:spPr>
          <a:xfrm>
            <a:off x="4800600" y="3520440"/>
            <a:ext cx="3840480" cy="822960"/>
          </a:xfrm>
          <a:prstGeom prst="rect">
            <a:avLst/>
          </a:prstGeom>
          <a:noFill/>
          <a:ln/>
        </p:spPr>
        <p:txBody>
          <a:bodyPr wrap="square" lIns="0" tIns="0" rIns="0" bIns="0" rtlCol="0" anchor="ctr"/>
          <a:lstStyle/>
          <a:p>
            <a:pPr marL="0" indent="0">
              <a:buNone/>
            </a:pPr>
            <a:r>
              <a:rPr lang="en-US" sz="1050" dirty="0">
                <a:solidFill>
                  <a:srgbClr val="7A8FAD"/>
                </a:solidFill>
                <a:latin typeface="Calibri" pitchFamily="34" charset="0"/>
                <a:ea typeface="Calibri" pitchFamily="34" charset="-122"/>
                <a:cs typeface="Calibri" pitchFamily="34" charset="-120"/>
              </a:rPr>
              <a:t>Zoom call → transcript → draft spec → human review → Notion tasks.</a:t>
            </a:r>
            <a:endParaRPr lang="en-US" sz="1050" dirty="0"/>
          </a:p>
          <a:p>
            <a:pPr marL="0" indent="0">
              <a:buNone/>
            </a:pPr>
            <a:r>
              <a:rPr lang="en-US" sz="1050" dirty="0">
                <a:solidFill>
                  <a:srgbClr val="7A8FAD"/>
                </a:solidFill>
                <a:latin typeface="Calibri" pitchFamily="34" charset="0"/>
                <a:ea typeface="Calibri" pitchFamily="34" charset="-122"/>
                <a:cs typeface="Calibri" pitchFamily="34" charset="-120"/>
              </a:rPr>
              <a:t>Never fully automatic. Human review stays in the loop.</a:t>
            </a:r>
            <a:endParaRPr lang="en-US" sz="1050" dirty="0"/>
          </a:p>
        </p:txBody>
      </p:sp>
      <p:sp>
        <p:nvSpPr>
          <p:cNvPr id="23" name="Text 21"/>
          <p:cNvSpPr/>
          <p:nvPr/>
        </p:nvSpPr>
        <p:spPr>
          <a:xfrm>
            <a:off x="8412480" y="4754880"/>
            <a:ext cx="640080" cy="274320"/>
          </a:xfrm>
          <a:prstGeom prst="rect">
            <a:avLst/>
          </a:prstGeom>
          <a:noFill/>
          <a:ln/>
        </p:spPr>
        <p:txBody>
          <a:bodyPr wrap="square" rtlCol="0" anchor="ctr"/>
          <a:lstStyle/>
          <a:p>
            <a:pPr marL="0" indent="0" algn="r">
              <a:buNone/>
            </a:pPr>
            <a:r>
              <a:rPr lang="en-US" sz="900" dirty="0">
                <a:solidFill>
                  <a:srgbClr val="4A5F7A"/>
                </a:solidFill>
                <a:latin typeface="Consolas" pitchFamily="34" charset="0"/>
                <a:ea typeface="Consolas" pitchFamily="34" charset="-122"/>
                <a:cs typeface="Consolas"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365760" y="256032"/>
            <a:ext cx="1005840" cy="256032"/>
          </a:xfrm>
          <a:prstGeom prst="roundRect">
            <a:avLst/>
          </a:prstGeom>
          <a:solidFill>
            <a:srgbClr val="00E5A0">
              <a:alpha val="20000"/>
            </a:srgbClr>
          </a:solidFill>
          <a:ln w="6350">
            <a:solidFill>
              <a:srgbClr val="00E5A0"/>
            </a:solidFill>
            <a:prstDash val="solid"/>
          </a:ln>
        </p:spPr>
        <p:txBody>
          <a:bodyPr/>
          <a:lstStyle/>
          <a:p>
            <a:endParaRPr lang="en-US"/>
          </a:p>
        </p:txBody>
      </p:sp>
      <p:sp>
        <p:nvSpPr>
          <p:cNvPr id="3" name="Text 1"/>
          <p:cNvSpPr/>
          <p:nvPr/>
        </p:nvSpPr>
        <p:spPr>
          <a:xfrm>
            <a:off x="365760" y="228600"/>
            <a:ext cx="1005840" cy="274320"/>
          </a:xfrm>
          <a:prstGeom prst="rect">
            <a:avLst/>
          </a:prstGeom>
          <a:noFill/>
          <a:ln/>
        </p:spPr>
        <p:txBody>
          <a:bodyPr wrap="square" lIns="0" tIns="0" rIns="0" bIns="0" rtlCol="0" anchor="ctr"/>
          <a:lstStyle/>
          <a:p>
            <a:pPr marL="0" indent="0" algn="ctr">
              <a:buNone/>
            </a:pPr>
            <a:r>
              <a:rPr lang="en-US" sz="800" b="1" dirty="0">
                <a:solidFill>
                  <a:srgbClr val="00E5A0"/>
                </a:solidFill>
                <a:latin typeface="Consolas" pitchFamily="34" charset="0"/>
                <a:ea typeface="Consolas" pitchFamily="34" charset="-122"/>
                <a:cs typeface="Consolas" pitchFamily="34" charset="-120"/>
              </a:rPr>
              <a:t>CONTRIBUTION</a:t>
            </a:r>
            <a:endParaRPr lang="en-US" sz="800" dirty="0"/>
          </a:p>
        </p:txBody>
      </p:sp>
      <p:sp>
        <p:nvSpPr>
          <p:cNvPr id="4" name="Text 2"/>
          <p:cNvSpPr/>
          <p:nvPr/>
        </p:nvSpPr>
        <p:spPr>
          <a:xfrm>
            <a:off x="365760" y="594360"/>
            <a:ext cx="8412480" cy="548640"/>
          </a:xfrm>
          <a:prstGeom prst="rect">
            <a:avLst/>
          </a:prstGeom>
          <a:noFill/>
          <a:ln/>
        </p:spPr>
        <p:txBody>
          <a:bodyPr wrap="square" lIns="0" tIns="0" rIns="0" bIns="0" rtlCol="0" anchor="ctr"/>
          <a:lstStyle/>
          <a:p>
            <a:pPr marL="0" indent="0">
              <a:buNone/>
            </a:pPr>
            <a:r>
              <a:rPr lang="en-US" sz="2600" b="1" dirty="0">
                <a:solidFill>
                  <a:srgbClr val="F0F4FF"/>
                </a:solidFill>
                <a:latin typeface="Calibri" pitchFamily="34" charset="0"/>
                <a:ea typeface="Calibri" pitchFamily="34" charset="-122"/>
                <a:cs typeface="Calibri" pitchFamily="34" charset="-120"/>
              </a:rPr>
              <a:t>How I Contribute From Day One</a:t>
            </a:r>
            <a:endParaRPr lang="en-US" sz="2600" dirty="0"/>
          </a:p>
        </p:txBody>
      </p:sp>
      <p:sp>
        <p:nvSpPr>
          <p:cNvPr id="5" name="Text 3"/>
          <p:cNvSpPr/>
          <p:nvPr/>
        </p:nvSpPr>
        <p:spPr>
          <a:xfrm>
            <a:off x="365760" y="1097280"/>
            <a:ext cx="8412480" cy="320040"/>
          </a:xfrm>
          <a:prstGeom prst="rect">
            <a:avLst/>
          </a:prstGeom>
          <a:noFill/>
          <a:ln/>
        </p:spPr>
        <p:txBody>
          <a:bodyPr wrap="square" lIns="0" tIns="0" rIns="0" bIns="0" rtlCol="0" anchor="ctr"/>
          <a:lstStyle/>
          <a:p>
            <a:pPr marL="0" indent="0">
              <a:buNone/>
            </a:pPr>
            <a:r>
              <a:rPr lang="en-US" sz="1200" dirty="0">
                <a:solidFill>
                  <a:srgbClr val="7A8FAD"/>
                </a:solidFill>
                <a:latin typeface="Calibri" pitchFamily="34" charset="0"/>
                <a:ea typeface="Calibri" pitchFamily="34" charset="-122"/>
                <a:cs typeface="Calibri" pitchFamily="34" charset="-120"/>
              </a:rPr>
              <a:t>What I can already do + what the tool bridges</a:t>
            </a:r>
            <a:endParaRPr lang="en-US" sz="1200" dirty="0"/>
          </a:p>
        </p:txBody>
      </p:sp>
      <p:sp>
        <p:nvSpPr>
          <p:cNvPr id="6" name="Shape 4"/>
          <p:cNvSpPr/>
          <p:nvPr/>
        </p:nvSpPr>
        <p:spPr>
          <a:xfrm>
            <a:off x="365760" y="1071490"/>
            <a:ext cx="548640" cy="36576"/>
          </a:xfrm>
          <a:prstGeom prst="rect">
            <a:avLst/>
          </a:prstGeom>
          <a:solidFill>
            <a:srgbClr val="00D4FF"/>
          </a:solidFill>
          <a:ln w="12700">
            <a:solidFill>
              <a:srgbClr val="00D4FF"/>
            </a:solidFill>
            <a:prstDash val="solid"/>
          </a:ln>
        </p:spPr>
        <p:txBody>
          <a:bodyPr/>
          <a:lstStyle/>
          <a:p>
            <a:endParaRPr lang="en-US"/>
          </a:p>
        </p:txBody>
      </p:sp>
      <p:sp>
        <p:nvSpPr>
          <p:cNvPr id="7" name="Shape 5"/>
          <p:cNvSpPr/>
          <p:nvPr/>
        </p:nvSpPr>
        <p:spPr>
          <a:xfrm>
            <a:off x="365760" y="1417320"/>
            <a:ext cx="5029200" cy="3383280"/>
          </a:xfrm>
          <a:prstGeom prst="rect">
            <a:avLst/>
          </a:prstGeom>
          <a:solidFill>
            <a:srgbClr val="131D30"/>
          </a:solidFill>
          <a:ln w="6350">
            <a:solidFill>
              <a:srgbClr val="00E5A0"/>
            </a:solidFill>
            <a:prstDash val="solid"/>
          </a:ln>
        </p:spPr>
        <p:txBody>
          <a:bodyPr/>
          <a:lstStyle/>
          <a:p>
            <a:endParaRPr lang="en-US"/>
          </a:p>
        </p:txBody>
      </p:sp>
      <p:sp>
        <p:nvSpPr>
          <p:cNvPr id="8" name="Text 6"/>
          <p:cNvSpPr/>
          <p:nvPr/>
        </p:nvSpPr>
        <p:spPr>
          <a:xfrm>
            <a:off x="502920" y="1508760"/>
            <a:ext cx="4754880" cy="274320"/>
          </a:xfrm>
          <a:prstGeom prst="rect">
            <a:avLst/>
          </a:prstGeom>
          <a:noFill/>
          <a:ln/>
        </p:spPr>
        <p:txBody>
          <a:bodyPr wrap="square" lIns="0" tIns="0" rIns="0" bIns="0" rtlCol="0" anchor="ctr"/>
          <a:lstStyle/>
          <a:p>
            <a:pPr marL="0" indent="0">
              <a:buNone/>
            </a:pPr>
            <a:r>
              <a:rPr lang="en-US" sz="900" b="1" dirty="0">
                <a:solidFill>
                  <a:srgbClr val="00E5A0"/>
                </a:solidFill>
                <a:latin typeface="Consolas" pitchFamily="34" charset="0"/>
                <a:ea typeface="Consolas" pitchFamily="34" charset="-122"/>
                <a:cs typeface="Consolas" pitchFamily="34" charset="-120"/>
              </a:rPr>
              <a:t>WHAT I CAN ALREADY DO</a:t>
            </a:r>
            <a:endParaRPr lang="en-US" sz="900" dirty="0"/>
          </a:p>
        </p:txBody>
      </p:sp>
      <p:sp>
        <p:nvSpPr>
          <p:cNvPr id="9" name="Text 7"/>
          <p:cNvSpPr/>
          <p:nvPr/>
        </p:nvSpPr>
        <p:spPr>
          <a:xfrm>
            <a:off x="502920" y="1828800"/>
            <a:ext cx="4754880" cy="2834640"/>
          </a:xfrm>
          <a:prstGeom prst="rect">
            <a:avLst/>
          </a:prstGeom>
          <a:noFill/>
          <a:ln/>
        </p:spPr>
        <p:txBody>
          <a:bodyPr wrap="square" lIns="0" tIns="0" rIns="0" bIns="0" rtlCol="0" anchor="t"/>
          <a:lstStyle/>
          <a:p>
            <a:pPr marL="0" indent="0">
              <a:spcAft>
                <a:spcPts val="600"/>
              </a:spcAft>
              <a:buNone/>
            </a:pPr>
            <a:r>
              <a:rPr lang="en-US" sz="1150" dirty="0">
                <a:solidFill>
                  <a:srgbClr val="F0F4FF"/>
                </a:solidFill>
                <a:latin typeface="Calibri" pitchFamily="34" charset="0"/>
                <a:ea typeface="Calibri" pitchFamily="34" charset="-122"/>
                <a:cs typeface="Calibri" pitchFamily="34" charset="-120"/>
              </a:rPr>
              <a:t>→  Ship REST APIs and Python middleware — Hyundai</a:t>
            </a:r>
            <a:endParaRPr lang="en-US" sz="1150" dirty="0"/>
          </a:p>
          <a:p>
            <a:pPr marL="0" indent="0">
              <a:spcAft>
                <a:spcPts val="600"/>
              </a:spcAft>
              <a:buNone/>
            </a:pPr>
            <a:r>
              <a:rPr lang="en-US" sz="1150" dirty="0">
                <a:solidFill>
                  <a:srgbClr val="F0F4FF"/>
                </a:solidFill>
                <a:latin typeface="Calibri" pitchFamily="34" charset="0"/>
                <a:ea typeface="Calibri" pitchFamily="34" charset="-122"/>
                <a:cs typeface="Calibri" pitchFamily="34" charset="-120"/>
              </a:rPr>
              <a:t>→  RAG pipelines: FastAPI, LangChain, Qdrant, Postgres, Neo4j</a:t>
            </a:r>
            <a:endParaRPr lang="en-US" sz="1150" dirty="0"/>
          </a:p>
          <a:p>
            <a:pPr marL="0" indent="0">
              <a:spcAft>
                <a:spcPts val="600"/>
              </a:spcAft>
              <a:buNone/>
            </a:pPr>
            <a:r>
              <a:rPr lang="en-US" sz="1150" dirty="0">
                <a:solidFill>
                  <a:srgbClr val="F0F4FF"/>
                </a:solidFill>
                <a:latin typeface="Calibri" pitchFamily="34" charset="0"/>
                <a:ea typeface="Calibri" pitchFamily="34" charset="-122"/>
                <a:cs typeface="Calibri" pitchFamily="34" charset="-120"/>
              </a:rPr>
              <a:t>→  Write test plans and run SIT/UAT — EY</a:t>
            </a:r>
            <a:endParaRPr lang="en-US" sz="1150" dirty="0"/>
          </a:p>
          <a:p>
            <a:pPr marL="0" indent="0">
              <a:spcAft>
                <a:spcPts val="600"/>
              </a:spcAft>
              <a:buNone/>
            </a:pPr>
            <a:r>
              <a:rPr lang="en-US" sz="1150" dirty="0">
                <a:solidFill>
                  <a:srgbClr val="F0F4FF"/>
                </a:solidFill>
                <a:latin typeface="Calibri" pitchFamily="34" charset="0"/>
                <a:ea typeface="Calibri" pitchFamily="34" charset="-122"/>
                <a:cs typeface="Calibri" pitchFamily="34" charset="-120"/>
              </a:rPr>
              <a:t>→  Build and operate production bots — 1,500 users</a:t>
            </a:r>
            <a:endParaRPr lang="en-US" sz="1150" dirty="0"/>
          </a:p>
          <a:p>
            <a:pPr marL="0" indent="0">
              <a:spcAft>
                <a:spcPts val="600"/>
              </a:spcAft>
              <a:buNone/>
            </a:pPr>
            <a:r>
              <a:rPr lang="en-US" sz="1150" dirty="0">
                <a:solidFill>
                  <a:srgbClr val="F0F4FF"/>
                </a:solidFill>
                <a:latin typeface="Calibri" pitchFamily="34" charset="0"/>
                <a:ea typeface="Calibri" pitchFamily="34" charset="-122"/>
                <a:cs typeface="Calibri" pitchFamily="34" charset="-120"/>
              </a:rPr>
              <a:t>→  Write code, docs, tests, debug, deploy, own small features</a:t>
            </a:r>
            <a:endParaRPr lang="en-US" sz="1150" dirty="0"/>
          </a:p>
        </p:txBody>
      </p:sp>
      <p:sp>
        <p:nvSpPr>
          <p:cNvPr id="10" name="Shape 8"/>
          <p:cNvSpPr/>
          <p:nvPr/>
        </p:nvSpPr>
        <p:spPr>
          <a:xfrm>
            <a:off x="5577840" y="1417320"/>
            <a:ext cx="3200400" cy="3383280"/>
          </a:xfrm>
          <a:prstGeom prst="rect">
            <a:avLst/>
          </a:prstGeom>
          <a:solidFill>
            <a:srgbClr val="131D30"/>
          </a:solidFill>
          <a:ln w="6350">
            <a:solidFill>
              <a:srgbClr val="00D4FF"/>
            </a:solidFill>
            <a:prstDash val="solid"/>
          </a:ln>
        </p:spPr>
        <p:txBody>
          <a:bodyPr/>
          <a:lstStyle/>
          <a:p>
            <a:endParaRPr lang="en-US"/>
          </a:p>
        </p:txBody>
      </p:sp>
      <p:sp>
        <p:nvSpPr>
          <p:cNvPr id="11" name="Text 9"/>
          <p:cNvSpPr/>
          <p:nvPr/>
        </p:nvSpPr>
        <p:spPr>
          <a:xfrm>
            <a:off x="5715000" y="1508760"/>
            <a:ext cx="2926080" cy="274320"/>
          </a:xfrm>
          <a:prstGeom prst="rect">
            <a:avLst/>
          </a:prstGeom>
          <a:noFill/>
          <a:ln/>
        </p:spPr>
        <p:txBody>
          <a:bodyPr wrap="square" lIns="0" tIns="0" rIns="0" bIns="0" rtlCol="0" anchor="ctr"/>
          <a:lstStyle/>
          <a:p>
            <a:pPr marL="0" indent="0">
              <a:buNone/>
            </a:pPr>
            <a:r>
              <a:rPr lang="en-US" sz="900" b="1" dirty="0">
                <a:solidFill>
                  <a:srgbClr val="00D4FF"/>
                </a:solidFill>
                <a:latin typeface="Consolas" pitchFamily="34" charset="0"/>
                <a:ea typeface="Consolas" pitchFamily="34" charset="-122"/>
                <a:cs typeface="Consolas" pitchFamily="34" charset="-120"/>
              </a:rPr>
              <a:t>WHAT THE TOOL BRIDGES</a:t>
            </a:r>
            <a:endParaRPr lang="en-US" sz="900" dirty="0"/>
          </a:p>
        </p:txBody>
      </p:sp>
      <p:sp>
        <p:nvSpPr>
          <p:cNvPr id="12" name="Text 10"/>
          <p:cNvSpPr/>
          <p:nvPr/>
        </p:nvSpPr>
        <p:spPr>
          <a:xfrm>
            <a:off x="5715000" y="1828800"/>
            <a:ext cx="2926080" cy="2286000"/>
          </a:xfrm>
          <a:prstGeom prst="rect">
            <a:avLst/>
          </a:prstGeom>
          <a:noFill/>
          <a:ln/>
        </p:spPr>
        <p:txBody>
          <a:bodyPr wrap="square" lIns="0" tIns="0" rIns="0" bIns="0" rtlCol="0" anchor="t"/>
          <a:lstStyle/>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Product-to-spec translation</a:t>
            </a:r>
            <a:endParaRPr lang="en-US" sz="1100" dirty="0"/>
          </a:p>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Output reviewed by senior before production</a:t>
            </a:r>
            <a:endParaRPr lang="en-US" sz="1100" dirty="0"/>
          </a:p>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Shortens founder call → tickets from days to under an hour</a:t>
            </a:r>
            <a:endParaRPr lang="en-US" sz="1100" dirty="0"/>
          </a:p>
          <a:p>
            <a:pPr marL="0" indent="0">
              <a:spcAft>
                <a:spcPts val="600"/>
              </a:spcAft>
              <a:buNone/>
            </a:pPr>
            <a:r>
              <a:rPr lang="en-US" sz="1100" dirty="0">
                <a:solidFill>
                  <a:srgbClr val="F0F4FF"/>
                </a:solidFill>
                <a:latin typeface="Calibri" pitchFamily="34" charset="0"/>
                <a:ea typeface="Calibri" pitchFamily="34" charset="-122"/>
                <a:cs typeface="Calibri" pitchFamily="34" charset="-120"/>
              </a:rPr>
              <a:t>→  Buys time to build judgment I still lack</a:t>
            </a:r>
            <a:endParaRPr lang="en-US" sz="1100" dirty="0"/>
          </a:p>
        </p:txBody>
      </p:sp>
      <p:sp>
        <p:nvSpPr>
          <p:cNvPr id="13" name="Text 11"/>
          <p:cNvSpPr/>
          <p:nvPr/>
        </p:nvSpPr>
        <p:spPr>
          <a:xfrm>
            <a:off x="8412480" y="4754880"/>
            <a:ext cx="640080" cy="274320"/>
          </a:xfrm>
          <a:prstGeom prst="rect">
            <a:avLst/>
          </a:prstGeom>
          <a:noFill/>
          <a:ln/>
        </p:spPr>
        <p:txBody>
          <a:bodyPr wrap="square" rtlCol="0" anchor="ctr"/>
          <a:lstStyle/>
          <a:p>
            <a:pPr marL="0" indent="0" algn="r">
              <a:buNone/>
            </a:pPr>
            <a:r>
              <a:rPr lang="en-US" sz="900" dirty="0">
                <a:solidFill>
                  <a:srgbClr val="4A5F7A"/>
                </a:solidFill>
                <a:latin typeface="Consolas" pitchFamily="34" charset="0"/>
                <a:ea typeface="Consolas" pitchFamily="34" charset="-122"/>
                <a:cs typeface="Consolas"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D4FF"/>
          </a:solidFill>
          <a:ln w="12700">
            <a:solidFill>
              <a:srgbClr val="00D4FF"/>
            </a:solidFill>
            <a:prstDash val="solid"/>
          </a:ln>
        </p:spPr>
        <p:txBody>
          <a:bodyPr/>
          <a:lstStyle/>
          <a:p>
            <a:endParaRPr lang="en-US"/>
          </a:p>
        </p:txBody>
      </p:sp>
      <p:sp>
        <p:nvSpPr>
          <p:cNvPr id="3" name="Text 1"/>
          <p:cNvSpPr/>
          <p:nvPr/>
        </p:nvSpPr>
        <p:spPr>
          <a:xfrm>
            <a:off x="457200" y="457200"/>
            <a:ext cx="8229600" cy="457200"/>
          </a:xfrm>
          <a:prstGeom prst="rect">
            <a:avLst/>
          </a:prstGeom>
          <a:noFill/>
          <a:ln/>
        </p:spPr>
        <p:txBody>
          <a:bodyPr wrap="square" lIns="0" tIns="0" rIns="0" bIns="0" rtlCol="0" anchor="ctr"/>
          <a:lstStyle/>
          <a:p>
            <a:pPr marL="0" indent="0">
              <a:buNone/>
            </a:pPr>
            <a:r>
              <a:rPr lang="en-US" sz="1400" dirty="0">
                <a:solidFill>
                  <a:srgbClr val="7A8FAD"/>
                </a:solidFill>
                <a:latin typeface="Calibri" pitchFamily="34" charset="0"/>
                <a:ea typeface="Calibri" pitchFamily="34" charset="-122"/>
                <a:cs typeface="Calibri" pitchFamily="34" charset="-120"/>
              </a:rPr>
              <a:t>Summary</a:t>
            </a:r>
            <a:endParaRPr lang="en-US" sz="1400" dirty="0"/>
          </a:p>
        </p:txBody>
      </p:sp>
      <p:sp>
        <p:nvSpPr>
          <p:cNvPr id="4" name="Shape 2"/>
          <p:cNvSpPr/>
          <p:nvPr/>
        </p:nvSpPr>
        <p:spPr>
          <a:xfrm>
            <a:off x="457200" y="1097280"/>
            <a:ext cx="1097280" cy="438912"/>
          </a:xfrm>
          <a:prstGeom prst="rect">
            <a:avLst/>
          </a:prstGeom>
          <a:solidFill>
            <a:srgbClr val="FF5252">
              <a:alpha val="15000"/>
            </a:srgbClr>
          </a:solidFill>
          <a:ln w="6350">
            <a:solidFill>
              <a:srgbClr val="FF5252"/>
            </a:solidFill>
            <a:prstDash val="solid"/>
          </a:ln>
        </p:spPr>
        <p:txBody>
          <a:bodyPr/>
          <a:lstStyle/>
          <a:p>
            <a:endParaRPr lang="en-US"/>
          </a:p>
        </p:txBody>
      </p:sp>
      <p:sp>
        <p:nvSpPr>
          <p:cNvPr id="5" name="Text 3"/>
          <p:cNvSpPr/>
          <p:nvPr/>
        </p:nvSpPr>
        <p:spPr>
          <a:xfrm>
            <a:off x="457200" y="1097280"/>
            <a:ext cx="1097280" cy="438912"/>
          </a:xfrm>
          <a:prstGeom prst="rect">
            <a:avLst/>
          </a:prstGeom>
          <a:noFill/>
          <a:ln/>
        </p:spPr>
        <p:txBody>
          <a:bodyPr wrap="square" lIns="0" tIns="0" rIns="0" bIns="0" rtlCol="0" anchor="ctr"/>
          <a:lstStyle/>
          <a:p>
            <a:pPr marL="0" indent="0" algn="ctr">
              <a:buNone/>
            </a:pPr>
            <a:r>
              <a:rPr lang="en-US" sz="1000" b="1" dirty="0">
                <a:solidFill>
                  <a:srgbClr val="FF5252"/>
                </a:solidFill>
                <a:latin typeface="Consolas" pitchFamily="34" charset="0"/>
                <a:ea typeface="Consolas" pitchFamily="34" charset="-122"/>
                <a:cs typeface="Consolas" pitchFamily="34" charset="-120"/>
              </a:rPr>
              <a:t>gap</a:t>
            </a:r>
            <a:endParaRPr lang="en-US" sz="1000" dirty="0"/>
          </a:p>
        </p:txBody>
      </p:sp>
      <p:sp>
        <p:nvSpPr>
          <p:cNvPr id="6" name="Text 4"/>
          <p:cNvSpPr/>
          <p:nvPr/>
        </p:nvSpPr>
        <p:spPr>
          <a:xfrm>
            <a:off x="1691640" y="1097280"/>
            <a:ext cx="7132320" cy="438912"/>
          </a:xfrm>
          <a:prstGeom prst="rect">
            <a:avLst/>
          </a:prstGeom>
          <a:noFill/>
          <a:ln/>
        </p:spPr>
        <p:txBody>
          <a:bodyPr wrap="square" lIns="0" tIns="0" rIns="0" bIns="0" rtlCol="0" anchor="ctr"/>
          <a:lstStyle/>
          <a:p>
            <a:pPr marL="0" indent="0">
              <a:buNone/>
            </a:pPr>
            <a:r>
              <a:rPr lang="en-US" sz="1300" dirty="0">
                <a:solidFill>
                  <a:srgbClr val="F0F4FF"/>
                </a:solidFill>
                <a:latin typeface="Calibri" pitchFamily="34" charset="0"/>
                <a:ea typeface="Calibri" pitchFamily="34" charset="-122"/>
                <a:cs typeface="Calibri" pitchFamily="34" charset="-120"/>
              </a:rPr>
              <a:t>Product-to-engineering translation</a:t>
            </a:r>
            <a:endParaRPr lang="en-US" sz="1300" dirty="0"/>
          </a:p>
        </p:txBody>
      </p:sp>
      <p:sp>
        <p:nvSpPr>
          <p:cNvPr id="7" name="Shape 5"/>
          <p:cNvSpPr/>
          <p:nvPr/>
        </p:nvSpPr>
        <p:spPr>
          <a:xfrm>
            <a:off x="457200" y="1755648"/>
            <a:ext cx="1097280" cy="438912"/>
          </a:xfrm>
          <a:prstGeom prst="rect">
            <a:avLst/>
          </a:prstGeom>
          <a:solidFill>
            <a:srgbClr val="00D4FF">
              <a:alpha val="15000"/>
            </a:srgbClr>
          </a:solidFill>
          <a:ln w="6350">
            <a:solidFill>
              <a:srgbClr val="00D4FF"/>
            </a:solidFill>
            <a:prstDash val="solid"/>
          </a:ln>
        </p:spPr>
        <p:txBody>
          <a:bodyPr/>
          <a:lstStyle/>
          <a:p>
            <a:endParaRPr lang="en-US"/>
          </a:p>
        </p:txBody>
      </p:sp>
      <p:sp>
        <p:nvSpPr>
          <p:cNvPr id="8" name="Text 6"/>
          <p:cNvSpPr/>
          <p:nvPr/>
        </p:nvSpPr>
        <p:spPr>
          <a:xfrm>
            <a:off x="457200" y="1755648"/>
            <a:ext cx="1097280" cy="438912"/>
          </a:xfrm>
          <a:prstGeom prst="rect">
            <a:avLst/>
          </a:prstGeom>
          <a:noFill/>
          <a:ln/>
        </p:spPr>
        <p:txBody>
          <a:bodyPr wrap="square" lIns="0" tIns="0" rIns="0" bIns="0" rtlCol="0" anchor="ctr"/>
          <a:lstStyle/>
          <a:p>
            <a:pPr marL="0" indent="0" algn="ctr">
              <a:buNone/>
            </a:pPr>
            <a:r>
              <a:rPr lang="en-US" sz="1000" b="1" dirty="0">
                <a:solidFill>
                  <a:srgbClr val="00D4FF"/>
                </a:solidFill>
                <a:latin typeface="Consolas" pitchFamily="34" charset="0"/>
                <a:ea typeface="Consolas" pitchFamily="34" charset="-122"/>
                <a:cs typeface="Consolas" pitchFamily="34" charset="-120"/>
              </a:rPr>
              <a:t>built</a:t>
            </a:r>
            <a:endParaRPr lang="en-US" sz="1000" dirty="0"/>
          </a:p>
        </p:txBody>
      </p:sp>
      <p:sp>
        <p:nvSpPr>
          <p:cNvPr id="9" name="Text 7"/>
          <p:cNvSpPr/>
          <p:nvPr/>
        </p:nvSpPr>
        <p:spPr>
          <a:xfrm>
            <a:off x="1691640" y="1755648"/>
            <a:ext cx="7132320" cy="438912"/>
          </a:xfrm>
          <a:prstGeom prst="rect">
            <a:avLst/>
          </a:prstGeom>
          <a:noFill/>
          <a:ln/>
        </p:spPr>
        <p:txBody>
          <a:bodyPr wrap="square" lIns="0" tIns="0" rIns="0" bIns="0" rtlCol="0" anchor="ctr"/>
          <a:lstStyle/>
          <a:p>
            <a:pPr marL="0" indent="0">
              <a:buNone/>
            </a:pPr>
            <a:r>
              <a:rPr lang="en-US" sz="1300" dirty="0">
                <a:solidFill>
                  <a:srgbClr val="F0F4FF"/>
                </a:solidFill>
                <a:latin typeface="Calibri" pitchFamily="34" charset="0"/>
                <a:ea typeface="Calibri" pitchFamily="34" charset="-122"/>
                <a:cs typeface="Calibri" pitchFamily="34" charset="-120"/>
              </a:rPr>
              <a:t>8-stage chain → structured spec → Notion workspace</a:t>
            </a:r>
            <a:endParaRPr lang="en-US" sz="1300" dirty="0"/>
          </a:p>
        </p:txBody>
      </p:sp>
      <p:sp>
        <p:nvSpPr>
          <p:cNvPr id="10" name="Shape 8"/>
          <p:cNvSpPr/>
          <p:nvPr/>
        </p:nvSpPr>
        <p:spPr>
          <a:xfrm>
            <a:off x="457200" y="2414016"/>
            <a:ext cx="1097280" cy="438912"/>
          </a:xfrm>
          <a:prstGeom prst="rect">
            <a:avLst/>
          </a:prstGeom>
          <a:solidFill>
            <a:srgbClr val="FFB74D">
              <a:alpha val="15000"/>
            </a:srgbClr>
          </a:solidFill>
          <a:ln w="6350">
            <a:solidFill>
              <a:srgbClr val="FFB74D"/>
            </a:solidFill>
            <a:prstDash val="solid"/>
          </a:ln>
        </p:spPr>
        <p:txBody>
          <a:bodyPr/>
          <a:lstStyle/>
          <a:p>
            <a:endParaRPr lang="en-US"/>
          </a:p>
        </p:txBody>
      </p:sp>
      <p:sp>
        <p:nvSpPr>
          <p:cNvPr id="11" name="Text 9"/>
          <p:cNvSpPr/>
          <p:nvPr/>
        </p:nvSpPr>
        <p:spPr>
          <a:xfrm>
            <a:off x="457200" y="2414016"/>
            <a:ext cx="1097280" cy="438912"/>
          </a:xfrm>
          <a:prstGeom prst="rect">
            <a:avLst/>
          </a:prstGeom>
          <a:noFill/>
          <a:ln/>
        </p:spPr>
        <p:txBody>
          <a:bodyPr wrap="square" lIns="0" tIns="0" rIns="0" bIns="0" rtlCol="0" anchor="ctr"/>
          <a:lstStyle/>
          <a:p>
            <a:pPr marL="0" indent="0" algn="ctr">
              <a:buNone/>
            </a:pPr>
            <a:r>
              <a:rPr lang="en-US" sz="1000" b="1" dirty="0">
                <a:solidFill>
                  <a:srgbClr val="FFB74D"/>
                </a:solidFill>
                <a:latin typeface="Consolas" pitchFamily="34" charset="0"/>
                <a:ea typeface="Consolas" pitchFamily="34" charset="-122"/>
                <a:cs typeface="Consolas" pitchFamily="34" charset="-120"/>
              </a:rPr>
              <a:t>tested</a:t>
            </a:r>
            <a:endParaRPr lang="en-US" sz="1000" dirty="0"/>
          </a:p>
        </p:txBody>
      </p:sp>
      <p:sp>
        <p:nvSpPr>
          <p:cNvPr id="12" name="Text 10"/>
          <p:cNvSpPr/>
          <p:nvPr/>
        </p:nvSpPr>
        <p:spPr>
          <a:xfrm>
            <a:off x="1691640" y="2414016"/>
            <a:ext cx="7132320" cy="438912"/>
          </a:xfrm>
          <a:prstGeom prst="rect">
            <a:avLst/>
          </a:prstGeom>
          <a:noFill/>
          <a:ln/>
        </p:spPr>
        <p:txBody>
          <a:bodyPr wrap="square" lIns="0" tIns="0" rIns="0" bIns="0" rtlCol="0" anchor="ctr"/>
          <a:lstStyle/>
          <a:p>
            <a:pPr marL="0" indent="0">
              <a:buNone/>
            </a:pPr>
            <a:r>
              <a:rPr lang="en-US" sz="1300" dirty="0">
                <a:solidFill>
                  <a:srgbClr val="F0F4FF"/>
                </a:solidFill>
                <a:latin typeface="Calibri" pitchFamily="34" charset="0"/>
                <a:ea typeface="Calibri" pitchFamily="34" charset="-122"/>
                <a:cs typeface="Calibri" pitchFamily="34" charset="-120"/>
              </a:rPr>
              <a:t>5 stress tests — 2 real failures found and documented</a:t>
            </a:r>
            <a:endParaRPr lang="en-US" sz="1300" dirty="0"/>
          </a:p>
        </p:txBody>
      </p:sp>
      <p:sp>
        <p:nvSpPr>
          <p:cNvPr id="13" name="Shape 11"/>
          <p:cNvSpPr/>
          <p:nvPr/>
        </p:nvSpPr>
        <p:spPr>
          <a:xfrm>
            <a:off x="457200" y="3072384"/>
            <a:ext cx="1097280" cy="438912"/>
          </a:xfrm>
          <a:prstGeom prst="rect">
            <a:avLst/>
          </a:prstGeom>
          <a:solidFill>
            <a:srgbClr val="B39DDB">
              <a:alpha val="15000"/>
            </a:srgbClr>
          </a:solidFill>
          <a:ln w="6350">
            <a:solidFill>
              <a:srgbClr val="B39DDB"/>
            </a:solidFill>
            <a:prstDash val="solid"/>
          </a:ln>
        </p:spPr>
        <p:txBody>
          <a:bodyPr/>
          <a:lstStyle/>
          <a:p>
            <a:endParaRPr lang="en-US"/>
          </a:p>
        </p:txBody>
      </p:sp>
      <p:sp>
        <p:nvSpPr>
          <p:cNvPr id="14" name="Text 12"/>
          <p:cNvSpPr/>
          <p:nvPr/>
        </p:nvSpPr>
        <p:spPr>
          <a:xfrm>
            <a:off x="457200" y="3072384"/>
            <a:ext cx="1097280" cy="438912"/>
          </a:xfrm>
          <a:prstGeom prst="rect">
            <a:avLst/>
          </a:prstGeom>
          <a:noFill/>
          <a:ln/>
        </p:spPr>
        <p:txBody>
          <a:bodyPr wrap="square" lIns="0" tIns="0" rIns="0" bIns="0" rtlCol="0" anchor="ctr"/>
          <a:lstStyle/>
          <a:p>
            <a:pPr marL="0" indent="0" algn="ctr">
              <a:buNone/>
            </a:pPr>
            <a:r>
              <a:rPr lang="en-US" sz="1000" b="1" dirty="0">
                <a:solidFill>
                  <a:srgbClr val="B39DDB"/>
                </a:solidFill>
                <a:latin typeface="Consolas" pitchFamily="34" charset="0"/>
                <a:ea typeface="Consolas" pitchFamily="34" charset="-122"/>
                <a:cs typeface="Consolas" pitchFamily="34" charset="-120"/>
              </a:rPr>
              <a:t>next</a:t>
            </a:r>
            <a:endParaRPr lang="en-US" sz="1000" dirty="0"/>
          </a:p>
        </p:txBody>
      </p:sp>
      <p:sp>
        <p:nvSpPr>
          <p:cNvPr id="15" name="Text 13"/>
          <p:cNvSpPr/>
          <p:nvPr/>
        </p:nvSpPr>
        <p:spPr>
          <a:xfrm>
            <a:off x="1691640" y="3072384"/>
            <a:ext cx="7132320" cy="438912"/>
          </a:xfrm>
          <a:prstGeom prst="rect">
            <a:avLst/>
          </a:prstGeom>
          <a:noFill/>
          <a:ln/>
        </p:spPr>
        <p:txBody>
          <a:bodyPr wrap="square" lIns="0" tIns="0" rIns="0" bIns="0" rtlCol="0" anchor="ctr"/>
          <a:lstStyle/>
          <a:p>
            <a:pPr marL="0" indent="0">
              <a:buNone/>
            </a:pPr>
            <a:r>
              <a:rPr lang="en-US" sz="1300" dirty="0">
                <a:solidFill>
                  <a:srgbClr val="F0F4FF"/>
                </a:solidFill>
                <a:latin typeface="Calibri" pitchFamily="34" charset="0"/>
                <a:ea typeface="Calibri" pitchFamily="34" charset="-122"/>
                <a:cs typeface="Calibri" pitchFamily="34" charset="-120"/>
              </a:rPr>
              <a:t>Agentic workflow, venture state, skill-gap mapping</a:t>
            </a:r>
            <a:endParaRPr lang="en-US" sz="1300" dirty="0"/>
          </a:p>
        </p:txBody>
      </p:sp>
      <p:sp>
        <p:nvSpPr>
          <p:cNvPr id="16" name="Shape 14"/>
          <p:cNvSpPr/>
          <p:nvPr/>
        </p:nvSpPr>
        <p:spPr>
          <a:xfrm>
            <a:off x="457200" y="3840480"/>
            <a:ext cx="8321040" cy="822960"/>
          </a:xfrm>
          <a:prstGeom prst="rect">
            <a:avLst/>
          </a:prstGeom>
          <a:solidFill>
            <a:srgbClr val="131D30"/>
          </a:solidFill>
          <a:ln w="6350">
            <a:solidFill>
              <a:srgbClr val="00D4FF"/>
            </a:solidFill>
            <a:prstDash val="solid"/>
          </a:ln>
        </p:spPr>
        <p:txBody>
          <a:bodyPr/>
          <a:lstStyle/>
          <a:p>
            <a:endParaRPr lang="en-US"/>
          </a:p>
        </p:txBody>
      </p:sp>
      <p:sp>
        <p:nvSpPr>
          <p:cNvPr id="17" name="Text 15"/>
          <p:cNvSpPr/>
          <p:nvPr/>
        </p:nvSpPr>
        <p:spPr>
          <a:xfrm>
            <a:off x="594360" y="3840480"/>
            <a:ext cx="8046720" cy="822960"/>
          </a:xfrm>
          <a:prstGeom prst="rect">
            <a:avLst/>
          </a:prstGeom>
          <a:noFill/>
          <a:ln/>
        </p:spPr>
        <p:txBody>
          <a:bodyPr wrap="square" lIns="0" tIns="0" rIns="0" bIns="0" rtlCol="0" anchor="ctr"/>
          <a:lstStyle/>
          <a:p>
            <a:pPr marL="0" indent="0">
              <a:buNone/>
            </a:pPr>
            <a:r>
              <a:rPr lang="en-US" sz="1500" i="1" dirty="0">
                <a:solidFill>
                  <a:srgbClr val="00D4FF"/>
                </a:solidFill>
                <a:latin typeface="Calibri" pitchFamily="34" charset="0"/>
                <a:ea typeface="Calibri" pitchFamily="34" charset="-122"/>
                <a:cs typeface="Calibri" pitchFamily="34" charset="-120"/>
              </a:rPr>
              <a:t>I built this tool because I know where I am.'</a:t>
            </a:r>
            <a:endParaRPr lang="en-US" sz="1500" dirty="0"/>
          </a:p>
        </p:txBody>
      </p:sp>
      <p:sp>
        <p:nvSpPr>
          <p:cNvPr id="18" name="Text 16"/>
          <p:cNvSpPr/>
          <p:nvPr/>
        </p:nvSpPr>
        <p:spPr>
          <a:xfrm>
            <a:off x="8412480" y="4754880"/>
            <a:ext cx="640080" cy="274320"/>
          </a:xfrm>
          <a:prstGeom prst="rect">
            <a:avLst/>
          </a:prstGeom>
          <a:noFill/>
          <a:ln/>
        </p:spPr>
        <p:txBody>
          <a:bodyPr wrap="square" rtlCol="0" anchor="ctr"/>
          <a:lstStyle/>
          <a:p>
            <a:pPr marL="0" indent="0" algn="r">
              <a:buNone/>
            </a:pPr>
            <a:r>
              <a:rPr lang="en-US" sz="900" dirty="0">
                <a:solidFill>
                  <a:srgbClr val="4A5F7A"/>
                </a:solidFill>
                <a:latin typeface="Consolas" pitchFamily="34" charset="0"/>
                <a:ea typeface="Consolas" pitchFamily="34" charset="-122"/>
                <a:cs typeface="Consolas"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1638</Words>
  <Application>Microsoft Macintosh PowerPoint</Application>
  <PresentationFormat>On-screen Show (16:9)</PresentationFormat>
  <Paragraphs>216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Venture Brief → Technical Spec</dc:title>
  <dc:subject>PptxGenJS Presentation</dc:subject>
  <dc:creator>Himanshu Sharma</dc:creator>
  <cp:lastModifiedBy>#SHARMA HIMANSHU#</cp:lastModifiedBy>
  <cp:revision>3</cp:revision>
  <dcterms:created xsi:type="dcterms:W3CDTF">2026-05-12T04:11:30Z</dcterms:created>
  <dcterms:modified xsi:type="dcterms:W3CDTF">2026-05-12T05:52:55Z</dcterms:modified>
</cp:coreProperties>
</file>